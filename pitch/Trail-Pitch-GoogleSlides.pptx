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" id="{6f0fe4fd-b8a2-865a-e363-6014894cb757}">
          <p14:sldIdLst>
            <p14:sldId id="256"/>
          </p14:sldIdLst>
        </p14:section>
        <p14:section name="Problem" id="{2e70f6d0-8bbe-15d2-ceec-bb778b3df887}">
          <p14:sldIdLst>
            <p14:sldId id="257"/>
            <p14:sldId id="258"/>
          </p14:sldIdLst>
        </p14:section>
        <p14:section name="Product" id="{1bc8e56c-ea3f-8440-7b20-3b66ec482c2f}">
          <p14:sldIdLst>
            <p14:sldId id="259"/>
          </p14:sldIdLst>
        </p14:section>
        <p14:section name="Tech" id="{bff979fd-7a8b-db89-c1eb-b32b2485a833}">
          <p14:sldIdLst>
            <p14:sldId id="260"/>
            <p14:sldId id="261"/>
          </p14:sldIdLst>
        </p14:section>
        <p14:section name="Business" id="{4566bcfc-c1bf-869c-f969-9662a099a534}">
          <p14:sldIdLst>
            <p14:sldId id="262"/>
            <p14:sldId id="263"/>
            <p14:sldId id="264"/>
            <p14:sldId id="265"/>
          </p14:sldIdLst>
        </p14:section>
        <p14:section name="Close" id="{a3a27966-a94f-1c81-9d4b-dc5612ee6afd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Hi, I am Abdullah and I am building Trail. Open the live demo if there is time: trail-hmc.up.railway.app/demo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 in one line: the burden of proof moved onto the student and nobody built anything for their 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Docs history is a backup feature, not a record. It is Google's, only in Docs, no timing, no paste source, resets on copy, no integrity guarantee.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replay. Point at the paste with its source. The declaration is drafted from the record.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there is a laptop: open /verify, click Try it with a sample record, then Now tamper with it. The chain breaks at a named event.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validation report is in the repo: backtest-out/real-report.md. It opens by saying Trail does not detect AI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answer to retention: a reason to open Trail weekly. The homework time view came from an instructor suggestion.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loops, each built into the product rather than bought.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moat is the refusal. Student-side trust is the whole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to confirm before presenting: NCES fall enrollment for the 19M; Open Doors for international students.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Web Store review is the long pole; it has been submitted / will be submitted this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the line and the URL.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D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6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Trail · trail-hmc.up.railway.app</a:t>
            </a:r>
            <a:endParaRPr lang="en-US" sz="900" dirty="0"/>
          </a:p>
        </p:txBody>
      </p:sp>
      <p:sp>
        <p:nvSpPr>
          <p:cNvPr id="3" name="mark"/>
          <p:cNvSpPr/>
          <p:nvPr/>
        </p:nvSpPr>
        <p:spPr>
          <a:xfrm>
            <a:off x="457200" y="6400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2EEE4"/>
          </a:solidFill>
          <a:ln w="12700">
            <a:solidFill>
              <a:srgbClr val="F2EEE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667512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0E0D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ℓ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7132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2EE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Trail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41732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dirty="0">
                <a:solidFill>
                  <a:srgbClr val="F2EE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 how you write.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06324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C3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draft. Every session. Every </a:t>
            </a:r>
            <a:pPr indent="0" marL="0">
              <a:buNone/>
            </a:pPr>
            <a:r>
              <a:rPr lang="en-US" sz="1600" dirty="0">
                <a:solidFill>
                  <a:srgbClr val="E0A6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pasted sentence</a:t>
            </a:r>
            <a:pPr indent="0" marL="0">
              <a:buNone/>
            </a:pPr>
            <a:r>
              <a:rPr lang="en-US" sz="900" dirty="0">
                <a:solidFill>
                  <a:srgbClr val="E0A6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chatgpt.com</a:t>
            </a:r>
            <a:pPr indent="0" marL="0">
              <a:buNone/>
            </a:pPr>
            <a:r>
              <a:rPr lang="en-US" sz="1600" dirty="0">
                <a:solidFill>
                  <a:srgbClr val="C9C3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with its source.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65760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86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student's own record of how an essay was written. Kept on their laptop, signed so nobody can rewrite it, useful every week.</a:t>
            </a:r>
            <a:endParaRPr lang="en-US" sz="1200" dirty="0"/>
          </a:p>
        </p:txBody>
      </p:sp>
      <p:sp>
        <p:nvSpPr>
          <p:cNvPr id="9" name="legend-0"/>
          <p:cNvSpPr/>
          <p:nvPr/>
        </p:nvSpPr>
        <p:spPr>
          <a:xfrm>
            <a:off x="457200" y="4370832"/>
            <a:ext cx="109728" cy="109728"/>
          </a:xfrm>
          <a:prstGeom prst="rect">
            <a:avLst/>
          </a:prstGeom>
          <a:solidFill>
            <a:srgbClr val="5FCB84"/>
          </a:solidFill>
          <a:ln w="12700">
            <a:solidFill>
              <a:srgbClr val="5FCB8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431596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86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typed, in your hand</a:t>
            </a:r>
            <a:endParaRPr lang="en-US" sz="900" dirty="0"/>
          </a:p>
        </p:txBody>
      </p:sp>
      <p:sp>
        <p:nvSpPr>
          <p:cNvPr id="11" name="legend-1"/>
          <p:cNvSpPr/>
          <p:nvPr/>
        </p:nvSpPr>
        <p:spPr>
          <a:xfrm>
            <a:off x="2651760" y="4370832"/>
            <a:ext cx="109728" cy="109728"/>
          </a:xfrm>
          <a:prstGeom prst="rect">
            <a:avLst/>
          </a:prstGeom>
          <a:solidFill>
            <a:srgbClr val="E0A64B"/>
          </a:solidFill>
          <a:ln w="12700">
            <a:solidFill>
              <a:srgbClr val="E0A64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834640" y="431596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86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pasted, with its source</a:t>
            </a:r>
            <a:endParaRPr lang="en-US" sz="900" dirty="0"/>
          </a:p>
        </p:txBody>
      </p:sp>
      <p:sp>
        <p:nvSpPr>
          <p:cNvPr id="13" name="legend-2"/>
          <p:cNvSpPr/>
          <p:nvPr/>
        </p:nvSpPr>
        <p:spPr>
          <a:xfrm>
            <a:off x="4846320" y="4370832"/>
            <a:ext cx="109728" cy="109728"/>
          </a:xfrm>
          <a:prstGeom prst="rect">
            <a:avLst/>
          </a:prstGeom>
          <a:solidFill>
            <a:srgbClr val="6B8CFF"/>
          </a:solidFill>
          <a:ln w="12700">
            <a:solidFill>
              <a:srgbClr val="6B8C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0" y="431596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86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signed checkpoint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6177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86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Claremont accelerator · Abdullah Ali · live at trail-hmc.up.railway.app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D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6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Trail · trail-hmc.up.railway.app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THE PROBLEM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2EE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professor flags your essay for AI. You wrote it. You have </a:t>
            </a:r>
            <a:pPr indent="0" marL="0">
              <a:buNone/>
            </a:pPr>
            <a:r>
              <a:rPr lang="en-US" sz="3000" i="1" dirty="0">
                <a:solidFill>
                  <a:srgbClr val="6B8C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nothing to show.</a:t>
            </a:r>
            <a:endParaRPr lang="en-US" sz="3000" dirty="0"/>
          </a:p>
        </p:txBody>
      </p:sp>
      <p:sp>
        <p:nvSpPr>
          <p:cNvPr id="5" name="problem-0"/>
          <p:cNvSpPr/>
          <p:nvPr/>
        </p:nvSpPr>
        <p:spPr>
          <a:xfrm>
            <a:off x="457200" y="1828800"/>
            <a:ext cx="2651760" cy="2514600"/>
          </a:xfrm>
          <a:prstGeom prst="roundRect">
            <a:avLst>
              <a:gd name="adj" fmla="val 4364"/>
            </a:avLst>
          </a:prstGeom>
          <a:solidFill>
            <a:srgbClr val="161513"/>
          </a:solidFill>
          <a:ln w="9525">
            <a:solidFill>
              <a:srgbClr val="2B282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20116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331720"/>
            <a:ext cx="22494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C3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Colleges now run AI detectors on student work. They are wrong often enough that every campus has a story; a 2023 Stanford study found they flagged most essays by non-native English speakers.</a:t>
            </a:r>
            <a:endParaRPr lang="en-US" sz="1150" dirty="0"/>
          </a:p>
        </p:txBody>
      </p:sp>
      <p:sp>
        <p:nvSpPr>
          <p:cNvPr id="8" name="problem-1"/>
          <p:cNvSpPr/>
          <p:nvPr/>
        </p:nvSpPr>
        <p:spPr>
          <a:xfrm>
            <a:off x="3246120" y="1828800"/>
            <a:ext cx="2651760" cy="2514600"/>
          </a:xfrm>
          <a:prstGeom prst="roundRect">
            <a:avLst>
              <a:gd name="adj" fmla="val 4364"/>
            </a:avLst>
          </a:prstGeom>
          <a:solidFill>
            <a:srgbClr val="161513"/>
          </a:solidFill>
          <a:ln w="9525">
            <a:solidFill>
              <a:srgbClr val="2B282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47288" y="20116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PAYS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2331720"/>
            <a:ext cx="22494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C3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student. "I wrote it" is not evidence. The burden of proof has quietly moved onto them, with no tool on their side of the table.</a:t>
            </a:r>
            <a:endParaRPr lang="en-US" sz="1150" dirty="0"/>
          </a:p>
        </p:txBody>
      </p:sp>
      <p:sp>
        <p:nvSpPr>
          <p:cNvPr id="11" name="problem-2"/>
          <p:cNvSpPr/>
          <p:nvPr/>
        </p:nvSpPr>
        <p:spPr>
          <a:xfrm>
            <a:off x="6035040" y="1828800"/>
            <a:ext cx="2651760" cy="2514600"/>
          </a:xfrm>
          <a:prstGeom prst="roundRect">
            <a:avLst>
              <a:gd name="adj" fmla="val 4364"/>
            </a:avLst>
          </a:prstGeom>
          <a:solidFill>
            <a:srgbClr val="161513"/>
          </a:solidFill>
          <a:ln w="9525">
            <a:solidFill>
              <a:srgbClr val="2B282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36208" y="20116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6236208" y="2331720"/>
            <a:ext cx="22494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C3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Detectors arrived faster than due process, and AI-use declarations are becoming standard in syllabi. Students need a record of their own work.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D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6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Trail · trail-hmc.up.railway.app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WHY GOOGLE DOCS HISTORY IS NOT THE ANSWER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2EE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Version history is </a:t>
            </a:r>
            <a:pPr indent="0" marL="0">
              <a:buNone/>
            </a:pPr>
            <a:r>
              <a:rPr lang="en-US" sz="3000" i="1" dirty="0">
                <a:solidFill>
                  <a:srgbClr val="6B8C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Google's</a:t>
            </a:r>
            <a:pPr indent="0" marL="0">
              <a:buNone/>
            </a:pPr>
            <a:r>
              <a:rPr lang="en-US" sz="3000" dirty="0">
                <a:solidFill>
                  <a:srgbClr val="F2EE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record. Trail is the student's.</a:t>
            </a:r>
            <a:endParaRPr lang="en-US" sz="3000" dirty="0"/>
          </a:p>
        </p:txBody>
      </p:sp>
      <p:graphicFrame>
        <p:nvGraphicFramePr>
          <p:cNvPr id="4" name="compar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82296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194560"/>
                <a:gridCol w="31089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B86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question a professor asks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5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B86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Docs version history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5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B86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51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C3B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Was this typed or pasted?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D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86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Cannot tell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D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FCB8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Every paste, with its source site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D0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C3B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When was it written, and how fast?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D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86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Snapshots on Google's schedule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D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FCB8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Keystroke timing, sessions over days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D0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C3B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Does it work outside Google Docs?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D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86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D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FCB8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Docs, Notion, Word, Canvas, Moodle, Blackboard, Brightspace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D0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C3B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if I copied my draft to a new doc?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D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86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History resets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D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FCB8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record follows the writing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D0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C3B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 I hand it over without sharing the doc?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D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86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D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FCB8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Export a pack; the text stays yours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D0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9C3B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 anyone prove it was not edited later?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D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B86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D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FCB8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Signed every 10 minutes, verifiable by anyone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8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D0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D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6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Trail · trail-hmc.up.railway.app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THE PRODUCT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2EE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Chrome extension that records </a:t>
            </a:r>
            <a:pPr indent="0" marL="0">
              <a:buNone/>
            </a:pPr>
            <a:r>
              <a:rPr lang="en-US" sz="3000" i="1" dirty="0">
                <a:solidFill>
                  <a:srgbClr val="6B8C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</a:t>
            </a:r>
            <a:pPr indent="0" marL="0">
              <a:buNone/>
            </a:pPr>
            <a:r>
              <a:rPr lang="en-US" sz="3000" dirty="0">
                <a:solidFill>
                  <a:srgbClr val="F2EE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you write, on your own laptop.</a:t>
            </a:r>
            <a:endParaRPr lang="en-US" sz="3000" dirty="0"/>
          </a:p>
        </p:txBody>
      </p:sp>
      <p:sp>
        <p:nvSpPr>
          <p:cNvPr id="5" name="replay"/>
          <p:cNvSpPr/>
          <p:nvPr/>
        </p:nvSpPr>
        <p:spPr>
          <a:xfrm>
            <a:off x="457200" y="1691640"/>
            <a:ext cx="4206240" cy="2880360"/>
          </a:xfrm>
          <a:prstGeom prst="roundRect">
            <a:avLst>
              <a:gd name="adj" fmla="val 3810"/>
            </a:avLst>
          </a:prstGeom>
          <a:solidFill>
            <a:srgbClr val="161513"/>
          </a:solidFill>
          <a:ln w="9525">
            <a:solidFill>
              <a:srgbClr val="2B282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8470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86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Cities and silence · Google Docs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3474720" y="18470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B86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232 words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2103120"/>
            <a:ext cx="38039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2EE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Cities are not designed for silence. In the spring of 2020, New York recorded its quietest month since seismographs were installed. </a:t>
            </a:r>
            <a:pPr indent="0" marL="0">
              <a:buNone/>
            </a:pPr>
            <a:r>
              <a:rPr lang="en-US" sz="1250" dirty="0">
                <a:solidFill>
                  <a:srgbClr val="E0A6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Urban noise fell by roughly half in the first weeks of lockdown</a:t>
            </a:r>
            <a:pPr indent="0" marL="0">
              <a:buNone/>
            </a:pPr>
            <a:r>
              <a:rPr lang="en-US" sz="800" dirty="0">
                <a:solidFill>
                  <a:srgbClr val="E0A6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jstor.org</a:t>
            </a:r>
            <a:pPr indent="0" marL="0">
              <a:buNone/>
            </a:pPr>
            <a:r>
              <a:rPr lang="en-US" sz="1250" dirty="0">
                <a:solidFill>
                  <a:srgbClr val="F2EE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and the city noticed what it had stopped hearing: itself.</a:t>
            </a:r>
            <a:endParaRPr lang="en-US" sz="1250" dirty="0"/>
          </a:p>
        </p:txBody>
      </p:sp>
      <p:sp>
        <p:nvSpPr>
          <p:cNvPr id="9" name="bar-typed"/>
          <p:cNvSpPr/>
          <p:nvPr/>
        </p:nvSpPr>
        <p:spPr>
          <a:xfrm>
            <a:off x="658368" y="3977640"/>
            <a:ext cx="2743200" cy="91440"/>
          </a:xfrm>
          <a:prstGeom prst="rect">
            <a:avLst/>
          </a:prstGeom>
          <a:solidFill>
            <a:srgbClr val="5FCB84"/>
          </a:solidFill>
          <a:ln w="12700">
            <a:solidFill>
              <a:srgbClr val="5FCB84"/>
            </a:solidFill>
            <a:prstDash val="solid"/>
          </a:ln>
        </p:spPr>
      </p:sp>
      <p:sp>
        <p:nvSpPr>
          <p:cNvPr id="10" name="bar-pasted"/>
          <p:cNvSpPr/>
          <p:nvPr/>
        </p:nvSpPr>
        <p:spPr>
          <a:xfrm>
            <a:off x="3401568" y="3977640"/>
            <a:ext cx="1060704" cy="91440"/>
          </a:xfrm>
          <a:prstGeom prst="rect">
            <a:avLst/>
          </a:prstGeom>
          <a:solidFill>
            <a:srgbClr val="E0A64B"/>
          </a:solidFill>
          <a:ln w="12700">
            <a:solidFill>
              <a:srgbClr val="E0A64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" y="41330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FC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 72%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2834640" y="4133088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E0A6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pasted 28%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169164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—"/>
            </a:pPr>
            <a:r>
              <a:rPr lang="en-US" sz="1200" dirty="0">
                <a:solidFill>
                  <a:srgbClr val="C9C3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 any essay like a video. Scrub to the paragraph you rewrote four times.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—"/>
            </a:pPr>
            <a:r>
              <a:rPr lang="en-US" sz="1200" dirty="0">
                <a:solidFill>
                  <a:srgbClr val="C9C3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paste is kept with the site it came from. jstor.org is a quotation; chatgpt.com is a conversation to have honestly.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—"/>
            </a:pPr>
            <a:r>
              <a:rPr lang="en-US" sz="1200" dirty="0">
                <a:solidFill>
                  <a:srgbClr val="C9C3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AI-use declaration your course requires is drafted from what actually happened, not from memory.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—"/>
            </a:pPr>
            <a:r>
              <a:rPr lang="en-US" sz="1200" dirty="0">
                <a:solidFill>
                  <a:srgbClr val="C9C3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are ever accused, export an evidence pack anyone can verify in a browser without trusting us.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—"/>
            </a:pPr>
            <a:r>
              <a:rPr lang="en-US" sz="1200" dirty="0">
                <a:solidFill>
                  <a:srgbClr val="C9C3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Trail does not detect AI. It records process, and says so on every page.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0D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6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Trail · trail-hmc.up.railway.app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HOW IT WORKS, IN ONE PICTURE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2EE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event is fingerprinted and chained. Every ten minutes the chain is </a:t>
            </a:r>
            <a:pPr indent="0" marL="0">
              <a:buNone/>
            </a:pPr>
            <a:r>
              <a:rPr lang="en-US" sz="3000" i="1" dirty="0">
                <a:solidFill>
                  <a:srgbClr val="6B8C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signed and published.</a:t>
            </a:r>
            <a:endParaRPr lang="en-US" sz="3000" dirty="0"/>
          </a:p>
        </p:txBody>
      </p:sp>
      <p:sp>
        <p:nvSpPr>
          <p:cNvPr id="5" name="ev-0"/>
          <p:cNvSpPr/>
          <p:nvPr/>
        </p:nvSpPr>
        <p:spPr>
          <a:xfrm>
            <a:off x="457200" y="1965960"/>
            <a:ext cx="786384" cy="658368"/>
          </a:xfrm>
          <a:prstGeom prst="roundRect">
            <a:avLst>
              <a:gd name="adj" fmla="val 11111"/>
            </a:avLst>
          </a:prstGeom>
          <a:solidFill>
            <a:srgbClr val="161513"/>
          </a:solidFill>
          <a:ln w="9525">
            <a:solidFill>
              <a:srgbClr val="2B282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0299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C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 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28600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#a41f</a:t>
            </a:r>
            <a:endParaRPr lang="en-US" sz="900" dirty="0"/>
          </a:p>
        </p:txBody>
      </p:sp>
      <p:sp>
        <p:nvSpPr>
          <p:cNvPr id="8" name="link-0"/>
          <p:cNvSpPr/>
          <p:nvPr/>
        </p:nvSpPr>
        <p:spPr>
          <a:xfrm>
            <a:off x="1243584" y="2295144"/>
            <a:ext cx="201168" cy="0"/>
          </a:xfrm>
          <a:prstGeom prst="line">
            <a:avLst/>
          </a:prstGeom>
          <a:noFill/>
          <a:ln w="19050">
            <a:solidFill>
              <a:srgbClr val="6B8CFF"/>
            </a:solidFill>
            <a:prstDash val="solid"/>
            <a:tailEnd type="triangle"/>
          </a:ln>
        </p:spPr>
      </p:sp>
      <p:sp>
        <p:nvSpPr>
          <p:cNvPr id="9" name="ev-1"/>
          <p:cNvSpPr/>
          <p:nvPr/>
        </p:nvSpPr>
        <p:spPr>
          <a:xfrm>
            <a:off x="1444752" y="1965960"/>
            <a:ext cx="786384" cy="658368"/>
          </a:xfrm>
          <a:prstGeom prst="roundRect">
            <a:avLst>
              <a:gd name="adj" fmla="val 11111"/>
            </a:avLst>
          </a:prstGeom>
          <a:solidFill>
            <a:srgbClr val="161513"/>
          </a:solidFill>
          <a:ln w="9525">
            <a:solidFill>
              <a:srgbClr val="2B282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536192" y="20299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C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 2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536192" y="228600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#9c02</a:t>
            </a:r>
            <a:endParaRPr lang="en-US" sz="900" dirty="0"/>
          </a:p>
        </p:txBody>
      </p:sp>
      <p:sp>
        <p:nvSpPr>
          <p:cNvPr id="12" name="link-1"/>
          <p:cNvSpPr/>
          <p:nvPr/>
        </p:nvSpPr>
        <p:spPr>
          <a:xfrm>
            <a:off x="2231136" y="2295144"/>
            <a:ext cx="201168" cy="0"/>
          </a:xfrm>
          <a:prstGeom prst="line">
            <a:avLst/>
          </a:prstGeom>
          <a:noFill/>
          <a:ln w="19050">
            <a:solidFill>
              <a:srgbClr val="6B8CFF"/>
            </a:solidFill>
            <a:prstDash val="solid"/>
            <a:tailEnd type="triangle"/>
          </a:ln>
        </p:spPr>
      </p:sp>
      <p:sp>
        <p:nvSpPr>
          <p:cNvPr id="13" name="ev-2"/>
          <p:cNvSpPr/>
          <p:nvPr/>
        </p:nvSpPr>
        <p:spPr>
          <a:xfrm>
            <a:off x="2432304" y="1965960"/>
            <a:ext cx="786384" cy="658368"/>
          </a:xfrm>
          <a:prstGeom prst="roundRect">
            <a:avLst>
              <a:gd name="adj" fmla="val 11111"/>
            </a:avLst>
          </a:prstGeom>
          <a:solidFill>
            <a:srgbClr val="161513"/>
          </a:solidFill>
          <a:ln w="9525">
            <a:solidFill>
              <a:srgbClr val="2B282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523744" y="20299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C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 3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2523744" y="228600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#77be</a:t>
            </a:r>
            <a:endParaRPr lang="en-US" sz="900" dirty="0"/>
          </a:p>
        </p:txBody>
      </p:sp>
      <p:sp>
        <p:nvSpPr>
          <p:cNvPr id="16" name="link-2"/>
          <p:cNvSpPr/>
          <p:nvPr/>
        </p:nvSpPr>
        <p:spPr>
          <a:xfrm>
            <a:off x="3218688" y="2295144"/>
            <a:ext cx="201168" cy="0"/>
          </a:xfrm>
          <a:prstGeom prst="line">
            <a:avLst/>
          </a:prstGeom>
          <a:noFill/>
          <a:ln w="19050">
            <a:solidFill>
              <a:srgbClr val="6B8CFF"/>
            </a:solidFill>
            <a:prstDash val="solid"/>
            <a:tailEnd type="triangle"/>
          </a:ln>
        </p:spPr>
      </p:sp>
      <p:sp>
        <p:nvSpPr>
          <p:cNvPr id="17" name="ev-3"/>
          <p:cNvSpPr/>
          <p:nvPr/>
        </p:nvSpPr>
        <p:spPr>
          <a:xfrm>
            <a:off x="3419856" y="1965960"/>
            <a:ext cx="786384" cy="658368"/>
          </a:xfrm>
          <a:prstGeom prst="roundRect">
            <a:avLst>
              <a:gd name="adj" fmla="val 11111"/>
            </a:avLst>
          </a:prstGeom>
          <a:solidFill>
            <a:srgbClr val="161513"/>
          </a:solidFill>
          <a:ln w="9525">
            <a:solidFill>
              <a:srgbClr val="2B282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511296" y="20299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C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 4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3511296" y="228600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#e3d0</a:t>
            </a:r>
            <a:endParaRPr lang="en-US" sz="900" dirty="0"/>
          </a:p>
        </p:txBody>
      </p:sp>
      <p:sp>
        <p:nvSpPr>
          <p:cNvPr id="20" name="link-3"/>
          <p:cNvSpPr/>
          <p:nvPr/>
        </p:nvSpPr>
        <p:spPr>
          <a:xfrm>
            <a:off x="4206240" y="2295144"/>
            <a:ext cx="201168" cy="0"/>
          </a:xfrm>
          <a:prstGeom prst="line">
            <a:avLst/>
          </a:prstGeom>
          <a:noFill/>
          <a:ln w="19050">
            <a:solidFill>
              <a:srgbClr val="6B8CFF"/>
            </a:solidFill>
            <a:prstDash val="solid"/>
            <a:tailEnd type="triangle"/>
          </a:ln>
        </p:spPr>
      </p:sp>
      <p:sp>
        <p:nvSpPr>
          <p:cNvPr id="21" name="ev-4"/>
          <p:cNvSpPr/>
          <p:nvPr/>
        </p:nvSpPr>
        <p:spPr>
          <a:xfrm>
            <a:off x="4407408" y="1965960"/>
            <a:ext cx="786384" cy="658368"/>
          </a:xfrm>
          <a:prstGeom prst="roundRect">
            <a:avLst>
              <a:gd name="adj" fmla="val 11111"/>
            </a:avLst>
          </a:prstGeom>
          <a:solidFill>
            <a:srgbClr val="161513"/>
          </a:solidFill>
          <a:ln w="9525">
            <a:solidFill>
              <a:srgbClr val="2B282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498848" y="20299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C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 5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4498848" y="228600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#c01a</a:t>
            </a:r>
            <a:endParaRPr lang="en-US" sz="900" dirty="0"/>
          </a:p>
        </p:txBody>
      </p:sp>
      <p:sp>
        <p:nvSpPr>
          <p:cNvPr id="24" name="link-sign"/>
          <p:cNvSpPr/>
          <p:nvPr/>
        </p:nvSpPr>
        <p:spPr>
          <a:xfrm>
            <a:off x="5266944" y="2295144"/>
            <a:ext cx="365760" cy="0"/>
          </a:xfrm>
          <a:prstGeom prst="line">
            <a:avLst/>
          </a:prstGeom>
          <a:noFill/>
          <a:ln w="19050">
            <a:solidFill>
              <a:srgbClr val="6B8CFF"/>
            </a:solidFill>
            <a:prstDash val="solid"/>
            <a:tailEnd type="triangle"/>
          </a:ln>
        </p:spPr>
      </p:sp>
      <p:sp>
        <p:nvSpPr>
          <p:cNvPr id="25" name="sign"/>
          <p:cNvSpPr/>
          <p:nvPr/>
        </p:nvSpPr>
        <p:spPr>
          <a:xfrm>
            <a:off x="5669280" y="1965960"/>
            <a:ext cx="1463040" cy="658368"/>
          </a:xfrm>
          <a:prstGeom prst="roundRect">
            <a:avLst>
              <a:gd name="adj" fmla="val 11111"/>
            </a:avLst>
          </a:prstGeom>
          <a:solidFill>
            <a:srgbClr val="161513"/>
          </a:solidFill>
          <a:ln w="9525">
            <a:solidFill>
              <a:srgbClr val="2B282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779008" y="202996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C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10 min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5779008" y="228600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C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signed by Trail's key</a:t>
            </a:r>
            <a:endParaRPr lang="en-US" sz="900" dirty="0"/>
          </a:p>
        </p:txBody>
      </p:sp>
      <p:sp>
        <p:nvSpPr>
          <p:cNvPr id="28" name="link-log"/>
          <p:cNvSpPr/>
          <p:nvPr/>
        </p:nvSpPr>
        <p:spPr>
          <a:xfrm>
            <a:off x="7132320" y="2295144"/>
            <a:ext cx="274320" cy="0"/>
          </a:xfrm>
          <a:prstGeom prst="line">
            <a:avLst/>
          </a:prstGeom>
          <a:noFill/>
          <a:ln w="19050">
            <a:solidFill>
              <a:srgbClr val="6B8CFF"/>
            </a:solidFill>
            <a:prstDash val="solid"/>
            <a:tailEnd type="triangle"/>
          </a:ln>
        </p:spPr>
      </p:sp>
      <p:sp>
        <p:nvSpPr>
          <p:cNvPr id="29" name="log"/>
          <p:cNvSpPr/>
          <p:nvPr/>
        </p:nvSpPr>
        <p:spPr>
          <a:xfrm>
            <a:off x="7443216" y="1965960"/>
            <a:ext cx="1243584" cy="658368"/>
          </a:xfrm>
          <a:prstGeom prst="roundRect">
            <a:avLst>
              <a:gd name="adj" fmla="val 11111"/>
            </a:avLst>
          </a:prstGeom>
          <a:solidFill>
            <a:srgbClr val="161513"/>
          </a:solidFill>
          <a:ln w="9525">
            <a:solidFill>
              <a:srgbClr val="2B282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552944" y="20299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C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log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7552944" y="22860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append-only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2788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86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fingerprint includes the previous one, so a change anywhere breaks every link after it.</a:t>
            </a:r>
            <a:endParaRPr lang="en-US" sz="1050" dirty="0"/>
          </a:p>
        </p:txBody>
      </p:sp>
      <p:sp>
        <p:nvSpPr>
          <p:cNvPr id="33" name="step-0"/>
          <p:cNvSpPr/>
          <p:nvPr/>
        </p:nvSpPr>
        <p:spPr>
          <a:xfrm>
            <a:off x="457200" y="320040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161513"/>
          </a:solidFill>
          <a:ln w="9525">
            <a:solidFill>
              <a:srgbClr val="2B282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58368" y="334670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ON THE LAPTOP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658368" y="3611880"/>
            <a:ext cx="22494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C3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extension batches keystrokes, pastes and deletions, each with a fingerprint that includes the one before.</a:t>
            </a:r>
            <a:endParaRPr lang="en-US" sz="1050" dirty="0"/>
          </a:p>
        </p:txBody>
      </p:sp>
      <p:sp>
        <p:nvSpPr>
          <p:cNvPr id="36" name="step-1"/>
          <p:cNvSpPr/>
          <p:nvPr/>
        </p:nvSpPr>
        <p:spPr>
          <a:xfrm>
            <a:off x="3246120" y="320040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161513"/>
          </a:solidFill>
          <a:ln w="9525">
            <a:solidFill>
              <a:srgbClr val="2B282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447288" y="334670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TO THE SERVER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3447288" y="3611880"/>
            <a:ext cx="22494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C3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latest 64-character fingerprint, every ten minutes. Never the text, never the title, never the document address.</a:t>
            </a:r>
            <a:endParaRPr lang="en-US" sz="1050" dirty="0"/>
          </a:p>
        </p:txBody>
      </p:sp>
      <p:sp>
        <p:nvSpPr>
          <p:cNvPr id="39" name="step-2"/>
          <p:cNvSpPr/>
          <p:nvPr/>
        </p:nvSpPr>
        <p:spPr>
          <a:xfrm>
            <a:off x="6035040" y="320040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161513"/>
          </a:solidFill>
          <a:ln w="9525">
            <a:solidFill>
              <a:srgbClr val="2B282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236208" y="334670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IN ANY BROWSER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6236208" y="3611880"/>
            <a:ext cx="22494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C3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professor drops the pack on trail-hmc.up.railway.app/verify. It recomputes everything against the key and log fetched from the site. Change one letter and it names the event.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0D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6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Trail · trail-hmc.up.railway.app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IT HAD TO PROVE ITSELF BEFORE IT GOT A WEBSITE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2EE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320 real essays. 800 simulated ways of writing them. </a:t>
            </a:r>
            <a:pPr indent="0" marL="0">
              <a:buNone/>
            </a:pPr>
            <a:r>
              <a:rPr lang="en-US" sz="3000" i="1" dirty="0">
                <a:solidFill>
                  <a:srgbClr val="6B8C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Exact</a:t>
            </a:r>
            <a:pPr indent="0" marL="0">
              <a:buNone/>
            </a:pPr>
            <a:r>
              <a:rPr lang="en-US" sz="3000" dirty="0">
                <a:solidFill>
                  <a:srgbClr val="F2EE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provenance.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8288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86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LINES RECONSTRUCTED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08483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2EE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4,400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81635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C3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315,760 words, byte-exact. Line and character provenance 100%.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3246120" y="18288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86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WRITERS FLAGGED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3246120" y="208483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5FCB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/ 320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246120" y="281635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C3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one human-typed document was called scripted.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8288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86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SCRIPTED ESSAYS CAUGHT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208483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E0A6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160 / 160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6035040" y="281635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C3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auto-typed ChatGPT essay flagged for uniform rhythm.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703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C3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and ChatGPT essays from public datasets (Ghostbuster, HC3), pushed through typed, pasted-whole, pasted-in-chunks, auto-typed and quoted processes with known ground truth. The analysis never reads the text. That is the point: Trail records process, it does not judge content.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0D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6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Trail · trail-hmc.up.railway.app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USEFUL EVERY WEEK, NOT JUST IN A CRISIS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2EE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evidence pack is one item on a menu. </a:t>
            </a:r>
            <a:pPr indent="0" marL="0">
              <a:buNone/>
            </a:pPr>
            <a:r>
              <a:rPr lang="en-US" sz="3000" i="1" dirty="0">
                <a:solidFill>
                  <a:srgbClr val="6B8C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habit</a:t>
            </a:r>
            <a:pPr indent="0" marL="0">
              <a:buNone/>
            </a:pPr>
            <a:r>
              <a:rPr lang="en-US" sz="3000" dirty="0">
                <a:solidFill>
                  <a:srgbClr val="F2EE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is the product.</a:t>
            </a:r>
            <a:endParaRPr lang="en-US" sz="3000" dirty="0"/>
          </a:p>
        </p:txBody>
      </p:sp>
      <p:sp>
        <p:nvSpPr>
          <p:cNvPr id="5" name="feat-0"/>
          <p:cNvSpPr/>
          <p:nvPr/>
        </p:nvSpPr>
        <p:spPr>
          <a:xfrm>
            <a:off x="457200" y="1691640"/>
            <a:ext cx="2651760" cy="1353312"/>
          </a:xfrm>
          <a:prstGeom prst="roundRect">
            <a:avLst>
              <a:gd name="adj" fmla="val 8108"/>
            </a:avLst>
          </a:prstGeom>
          <a:solidFill>
            <a:srgbClr val="161513"/>
          </a:solidFill>
          <a:ln w="9525">
            <a:solidFill>
              <a:srgbClr val="2B282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874520"/>
            <a:ext cx="2249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86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130552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2EE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2,000 words happen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2606040"/>
            <a:ext cx="22494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C3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essay at forty seconds a session. Most tools keep the final version; Trail keeps the whole thing.</a:t>
            </a:r>
            <a:endParaRPr lang="en-US" sz="1100" dirty="0"/>
          </a:p>
        </p:txBody>
      </p:sp>
      <p:sp>
        <p:nvSpPr>
          <p:cNvPr id="9" name="feat-1"/>
          <p:cNvSpPr/>
          <p:nvPr/>
        </p:nvSpPr>
        <p:spPr>
          <a:xfrm>
            <a:off x="3246120" y="1691640"/>
            <a:ext cx="2651760" cy="1353312"/>
          </a:xfrm>
          <a:prstGeom prst="roundRect">
            <a:avLst>
              <a:gd name="adj" fmla="val 8108"/>
            </a:avLst>
          </a:prstGeom>
          <a:solidFill>
            <a:srgbClr val="161513"/>
          </a:solidFill>
          <a:ln w="9525">
            <a:solidFill>
              <a:srgbClr val="2B282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47288" y="1874520"/>
            <a:ext cx="2249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86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3447288" y="2130552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2EE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process, in numbers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47288" y="2606040"/>
            <a:ext cx="22494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C3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hour, median session, typed share, how much you rewrite. Nothing is sent anywhere.</a:t>
            </a:r>
            <a:endParaRPr lang="en-US" sz="1100" dirty="0"/>
          </a:p>
        </p:txBody>
      </p:sp>
      <p:sp>
        <p:nvSpPr>
          <p:cNvPr id="13" name="feat-2"/>
          <p:cNvSpPr/>
          <p:nvPr/>
        </p:nvSpPr>
        <p:spPr>
          <a:xfrm>
            <a:off x="6035040" y="1691640"/>
            <a:ext cx="2651760" cy="1353312"/>
          </a:xfrm>
          <a:prstGeom prst="roundRect">
            <a:avLst>
              <a:gd name="adj" fmla="val 8108"/>
            </a:avLst>
          </a:prstGeom>
          <a:solidFill>
            <a:srgbClr val="161513"/>
          </a:solidFill>
          <a:ln w="9525">
            <a:solidFill>
              <a:srgbClr val="2B282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36208" y="1874520"/>
            <a:ext cx="2249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86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6236208" y="2130552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2EE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Screen time for homework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236208" y="2606040"/>
            <a:ext cx="22494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C3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minutes by class and assignment on Canvas and friends, a streak, plain habit lines. No teacher view.</a:t>
            </a:r>
            <a:endParaRPr lang="en-US" sz="1100" dirty="0"/>
          </a:p>
        </p:txBody>
      </p:sp>
      <p:sp>
        <p:nvSpPr>
          <p:cNvPr id="17" name="feat-3"/>
          <p:cNvSpPr/>
          <p:nvPr/>
        </p:nvSpPr>
        <p:spPr>
          <a:xfrm>
            <a:off x="457200" y="3154680"/>
            <a:ext cx="2651760" cy="1353312"/>
          </a:xfrm>
          <a:prstGeom prst="roundRect">
            <a:avLst>
              <a:gd name="adj" fmla="val 8108"/>
            </a:avLst>
          </a:prstGeom>
          <a:solidFill>
            <a:srgbClr val="161513"/>
          </a:solidFill>
          <a:ln w="9525">
            <a:solidFill>
              <a:srgbClr val="2B282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8368" y="3337560"/>
            <a:ext cx="2249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86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DECLARATION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" y="3593592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2EE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Written from what happened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" y="4069080"/>
            <a:ext cx="22494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C3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AI-use statement more courses require, drafted from the record. You edit it, you sign it.</a:t>
            </a:r>
            <a:endParaRPr lang="en-US" sz="1100" dirty="0"/>
          </a:p>
        </p:txBody>
      </p:sp>
      <p:sp>
        <p:nvSpPr>
          <p:cNvPr id="21" name="feat-4"/>
          <p:cNvSpPr/>
          <p:nvPr/>
        </p:nvSpPr>
        <p:spPr>
          <a:xfrm>
            <a:off x="3246120" y="3154680"/>
            <a:ext cx="2651760" cy="1353312"/>
          </a:xfrm>
          <a:prstGeom prst="roundRect">
            <a:avLst>
              <a:gd name="adj" fmla="val 8108"/>
            </a:avLst>
          </a:prstGeom>
          <a:solidFill>
            <a:srgbClr val="161513"/>
          </a:solidFill>
          <a:ln w="9525">
            <a:solidFill>
              <a:srgbClr val="2B282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447288" y="3337560"/>
            <a:ext cx="2249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86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3447288" y="3593592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2EE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anyone ever asks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3447288" y="4069080"/>
            <a:ext cx="22494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C3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click. Verifiable by anyone, in a browser, without trusting Trail.</a:t>
            </a:r>
            <a:endParaRPr lang="en-US" sz="1100" dirty="0"/>
          </a:p>
        </p:txBody>
      </p:sp>
      <p:sp>
        <p:nvSpPr>
          <p:cNvPr id="25" name="feat-5"/>
          <p:cNvSpPr/>
          <p:nvPr/>
        </p:nvSpPr>
        <p:spPr>
          <a:xfrm>
            <a:off x="6035040" y="3154680"/>
            <a:ext cx="2651760" cy="1353312"/>
          </a:xfrm>
          <a:prstGeom prst="roundRect">
            <a:avLst>
              <a:gd name="adj" fmla="val 8108"/>
            </a:avLst>
          </a:prstGeom>
          <a:solidFill>
            <a:srgbClr val="161513"/>
          </a:solidFill>
          <a:ln w="9525">
            <a:solidFill>
              <a:srgbClr val="2B282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36208" y="3337560"/>
            <a:ext cx="2249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86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6236208" y="3593592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2EE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Nothing leaves the laptop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236208" y="4069080"/>
            <a:ext cx="22494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C3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server holds email, fingerprints and signatures. Deleting the account deletes all of it.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0D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6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Trail · trail-hmc.up.railway.app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CUSTOMERS AND HOW WE GET THEM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2EE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with the students who are </a:t>
            </a:r>
            <a:pPr indent="0" marL="0">
              <a:buNone/>
            </a:pPr>
            <a:r>
              <a:rPr lang="en-US" sz="3000" i="1" dirty="0">
                <a:solidFill>
                  <a:srgbClr val="6B8C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afraid</a:t>
            </a:r>
            <a:pPr indent="0" marL="0">
              <a:buNone/>
            </a:pPr>
            <a:r>
              <a:rPr lang="en-US" sz="3000" dirty="0">
                <a:solidFill>
                  <a:srgbClr val="F2EE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and let the product carry itself.</a:t>
            </a:r>
            <a:endParaRPr lang="en-US" sz="3000" dirty="0"/>
          </a:p>
        </p:txBody>
      </p:sp>
      <p:sp>
        <p:nvSpPr>
          <p:cNvPr id="5" name="acq-0"/>
          <p:cNvSpPr/>
          <p:nvPr/>
        </p:nvSpPr>
        <p:spPr>
          <a:xfrm>
            <a:off x="457200" y="1691640"/>
            <a:ext cx="2651760" cy="1353312"/>
          </a:xfrm>
          <a:prstGeom prst="roundRect">
            <a:avLst>
              <a:gd name="adj" fmla="val 8108"/>
            </a:avLst>
          </a:prstGeom>
          <a:solidFill>
            <a:srgbClr val="161513"/>
          </a:solidFill>
          <a:ln w="9525">
            <a:solidFill>
              <a:srgbClr val="2B282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874520"/>
            <a:ext cx="2249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86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WEDGE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130552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2EE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International students at three campuses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2606040"/>
            <a:ext cx="22494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C3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Flagged most, talk to each other most. Claremont is one of the three.</a:t>
            </a:r>
            <a:endParaRPr lang="en-US" sz="1100" dirty="0"/>
          </a:p>
        </p:txBody>
      </p:sp>
      <p:sp>
        <p:nvSpPr>
          <p:cNvPr id="9" name="acq-1"/>
          <p:cNvSpPr/>
          <p:nvPr/>
        </p:nvSpPr>
        <p:spPr>
          <a:xfrm>
            <a:off x="3246120" y="1691640"/>
            <a:ext cx="2651760" cy="1353312"/>
          </a:xfrm>
          <a:prstGeom prst="roundRect">
            <a:avLst>
              <a:gd name="adj" fmla="val 8108"/>
            </a:avLst>
          </a:prstGeom>
          <a:solidFill>
            <a:srgbClr val="161513"/>
          </a:solidFill>
          <a:ln w="9525">
            <a:solidFill>
              <a:srgbClr val="2B282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47288" y="1874520"/>
            <a:ext cx="2249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86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1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3447288" y="2130552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2EE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Invite three, get a semester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47288" y="2606040"/>
            <a:ext cx="22494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C3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invite counts when the friend finishes a first replay, not at sign-up. Nine invites, three free semesters.</a:t>
            </a:r>
            <a:endParaRPr lang="en-US" sz="1100" dirty="0"/>
          </a:p>
        </p:txBody>
      </p:sp>
      <p:sp>
        <p:nvSpPr>
          <p:cNvPr id="13" name="loop-dot-1"/>
          <p:cNvSpPr/>
          <p:nvPr/>
        </p:nvSpPr>
        <p:spPr>
          <a:xfrm>
            <a:off x="5577840" y="1874520"/>
            <a:ext cx="109728" cy="109728"/>
          </a:xfrm>
          <a:prstGeom prst="ellipse">
            <a:avLst/>
          </a:prstGeom>
          <a:solidFill>
            <a:srgbClr val="6B8CFF"/>
          </a:solidFill>
          <a:ln w="12700">
            <a:solidFill>
              <a:srgbClr val="6B8CFF"/>
            </a:solidFill>
            <a:prstDash val="solid"/>
          </a:ln>
        </p:spPr>
      </p:sp>
      <p:sp>
        <p:nvSpPr>
          <p:cNvPr id="14" name="acq-2"/>
          <p:cNvSpPr/>
          <p:nvPr/>
        </p:nvSpPr>
        <p:spPr>
          <a:xfrm>
            <a:off x="6035040" y="1691640"/>
            <a:ext cx="2651760" cy="1353312"/>
          </a:xfrm>
          <a:prstGeom prst="roundRect">
            <a:avLst>
              <a:gd name="adj" fmla="val 8108"/>
            </a:avLst>
          </a:prstGeom>
          <a:solidFill>
            <a:srgbClr val="161513"/>
          </a:solidFill>
          <a:ln w="9525">
            <a:solidFill>
              <a:srgbClr val="2B282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36208" y="1874520"/>
            <a:ext cx="2249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86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2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236208" y="2130552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2EE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verify page is the ad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36208" y="2606040"/>
            <a:ext cx="22494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C3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pack a student hands a professor points to the verify page. The person checking it is the next one recommending it.</a:t>
            </a:r>
            <a:endParaRPr lang="en-US" sz="1100" dirty="0"/>
          </a:p>
        </p:txBody>
      </p:sp>
      <p:sp>
        <p:nvSpPr>
          <p:cNvPr id="18" name="loop-dot-2"/>
          <p:cNvSpPr/>
          <p:nvPr/>
        </p:nvSpPr>
        <p:spPr>
          <a:xfrm>
            <a:off x="8366760" y="1874520"/>
            <a:ext cx="109728" cy="109728"/>
          </a:xfrm>
          <a:prstGeom prst="ellipse">
            <a:avLst/>
          </a:prstGeom>
          <a:solidFill>
            <a:srgbClr val="6B8CFF"/>
          </a:solidFill>
          <a:ln w="12700">
            <a:solidFill>
              <a:srgbClr val="6B8CFF"/>
            </a:solidFill>
            <a:prstDash val="solid"/>
          </a:ln>
        </p:spPr>
      </p:sp>
      <p:sp>
        <p:nvSpPr>
          <p:cNvPr id="19" name="acq-3"/>
          <p:cNvSpPr/>
          <p:nvPr/>
        </p:nvSpPr>
        <p:spPr>
          <a:xfrm>
            <a:off x="457200" y="3154680"/>
            <a:ext cx="2651760" cy="1353312"/>
          </a:xfrm>
          <a:prstGeom prst="roundRect">
            <a:avLst>
              <a:gd name="adj" fmla="val 8108"/>
            </a:avLst>
          </a:prstGeom>
          <a:solidFill>
            <a:srgbClr val="161513"/>
          </a:solidFill>
          <a:ln w="9525">
            <a:solidFill>
              <a:srgbClr val="2B282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8368" y="3337560"/>
            <a:ext cx="2249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86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3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" y="3593592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2EE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declaration travels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" y="4069080"/>
            <a:ext cx="22494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C3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declaration "generated from my writing record" at the foot of an essay is read by every grader. Writing centres ask where it came from.</a:t>
            </a:r>
            <a:endParaRPr lang="en-US" sz="1100" dirty="0"/>
          </a:p>
        </p:txBody>
      </p:sp>
      <p:sp>
        <p:nvSpPr>
          <p:cNvPr id="23" name="loop-dot-3"/>
          <p:cNvSpPr/>
          <p:nvPr/>
        </p:nvSpPr>
        <p:spPr>
          <a:xfrm>
            <a:off x="2788920" y="3337560"/>
            <a:ext cx="109728" cy="109728"/>
          </a:xfrm>
          <a:prstGeom prst="ellipse">
            <a:avLst/>
          </a:prstGeom>
          <a:solidFill>
            <a:srgbClr val="6B8CFF"/>
          </a:solidFill>
          <a:ln w="12700">
            <a:solidFill>
              <a:srgbClr val="6B8CFF"/>
            </a:solidFill>
            <a:prstDash val="solid"/>
          </a:ln>
        </p:spPr>
      </p:sp>
      <p:sp>
        <p:nvSpPr>
          <p:cNvPr id="24" name="acq-4"/>
          <p:cNvSpPr/>
          <p:nvPr/>
        </p:nvSpPr>
        <p:spPr>
          <a:xfrm>
            <a:off x="3246120" y="3154680"/>
            <a:ext cx="2651760" cy="1353312"/>
          </a:xfrm>
          <a:prstGeom prst="roundRect">
            <a:avLst>
              <a:gd name="adj" fmla="val 8108"/>
            </a:avLst>
          </a:prstGeom>
          <a:solidFill>
            <a:srgbClr val="161513"/>
          </a:solidFill>
          <a:ln w="9525">
            <a:solidFill>
              <a:srgbClr val="2B282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47288" y="3337560"/>
            <a:ext cx="2249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86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3447288" y="3593592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2EE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Chrome Web Store, one click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3447288" y="4069080"/>
            <a:ext cx="22494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C3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dollars once, no per-install cost. "Add to Chrome" is the funnel; the first replay is the activation.</a:t>
            </a:r>
            <a:endParaRPr lang="en-US" sz="1100" dirty="0"/>
          </a:p>
        </p:txBody>
      </p:sp>
      <p:sp>
        <p:nvSpPr>
          <p:cNvPr id="28" name="acq-5"/>
          <p:cNvSpPr/>
          <p:nvPr/>
        </p:nvSpPr>
        <p:spPr>
          <a:xfrm>
            <a:off x="6035040" y="3154680"/>
            <a:ext cx="2651760" cy="1353312"/>
          </a:xfrm>
          <a:prstGeom prst="roundRect">
            <a:avLst>
              <a:gd name="adj" fmla="val 8108"/>
            </a:avLst>
          </a:prstGeom>
          <a:solidFill>
            <a:srgbClr val="161513"/>
          </a:solidFill>
          <a:ln w="9525">
            <a:solidFill>
              <a:srgbClr val="2B282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36208" y="3337560"/>
            <a:ext cx="2249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86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6236208" y="3593592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2EE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Acquisition cost near zero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6236208" y="4069080"/>
            <a:ext cx="22494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C3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ads. Students sell it to students. Free early access is the entire marketing budget.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0D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6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Trail · trail-hmc.up.railway.app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BUSINESS MODEL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2EE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Sold only to students. </a:t>
            </a:r>
            <a:pPr indent="0" marL="0">
              <a:buNone/>
            </a:pPr>
            <a:r>
              <a:rPr lang="en-US" sz="3000" i="1" dirty="0">
                <a:solidFill>
                  <a:srgbClr val="6B8C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Never</a:t>
            </a:r>
            <a:pPr indent="0" marL="0">
              <a:buNone/>
            </a:pPr>
            <a:r>
              <a:rPr lang="en-US" sz="3000" dirty="0">
                <a:solidFill>
                  <a:srgbClr val="F2EE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 institutions.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916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86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SEMESTER PLAN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94767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2EE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67919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C3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four months. One coffee a month.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3246120" y="16916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86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3246120" y="194767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2EE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$3.99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246120" y="267919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C3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features, month to month.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6916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86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COST PER USER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194767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2EE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2¢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6035040" y="267919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C3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month at current scale. The server stores fingerprints, not text. Estimate from our hosting bill.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4290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—"/>
            </a:pPr>
            <a:r>
              <a:rPr lang="en-US" sz="1150" dirty="0">
                <a:solidFill>
                  <a:srgbClr val="C9C3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during early access. Fourteen days free with every feature once pricing switches on, no card.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—"/>
            </a:pPr>
            <a:r>
              <a:rPr lang="en-US" sz="1150" dirty="0">
                <a:solidFill>
                  <a:srgbClr val="C9C3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Recording, local storage, export and checkpoint signing never lock, paid or not. Holding the record hostage would make the whole thing pointless.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—"/>
            </a:pPr>
            <a:r>
              <a:rPr lang="en-US" sz="1150" dirty="0">
                <a:solidFill>
                  <a:srgbClr val="C9C3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Refusing institutional contracts is the moat. The moment a university is the customer, Trail becomes surveillance and students stop installing it.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—"/>
            </a:pPr>
            <a:r>
              <a:rPr lang="en-US" sz="1150" dirty="0">
                <a:solidFill>
                  <a:srgbClr val="C9C3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 in one click, full refund within fourteen days, renewal reminder seven days before.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0D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6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Trail · trail-hmc.up.railway.app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MARKET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2EE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About nineteen million US college students. One in a hundred is a </a:t>
            </a:r>
            <a:pPr indent="0" marL="0">
              <a:buNone/>
            </a:pPr>
            <a:r>
              <a:rPr lang="en-US" sz="3000" i="1" dirty="0">
                <a:solidFill>
                  <a:srgbClr val="6B8C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company.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373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86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COLLEGE STUDENTS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99339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2EE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~19M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72491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C3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Roughly 1.1 million of them international, the wedge.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3246120" y="17373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86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1% ON THE SEMESTER PLAN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3246120" y="199339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5FCB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$4.6M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246120" y="272491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C3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190,000 students × $24 a year. Illustrative, not a forecast.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7373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86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MARGIN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199339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2EE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~95%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6035040" y="272491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C3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Fingerprints are cheap to store and sign. Support and payments are the real costs.</a:t>
            </a:r>
            <a:endParaRPr lang="en-US" sz="1150" dirty="0"/>
          </a:p>
        </p:txBody>
      </p:sp>
      <p:sp>
        <p:nvSpPr>
          <p:cNvPr id="14" name="scale-all"/>
          <p:cNvSpPr/>
          <p:nvPr/>
        </p:nvSpPr>
        <p:spPr>
          <a:xfrm>
            <a:off x="457200" y="3703320"/>
            <a:ext cx="8229600" cy="201168"/>
          </a:xfrm>
          <a:prstGeom prst="rect">
            <a:avLst/>
          </a:prstGeom>
          <a:solidFill>
            <a:srgbClr val="161513"/>
          </a:solidFill>
          <a:ln w="12700">
            <a:solidFill>
              <a:srgbClr val="2B2823"/>
            </a:solidFill>
            <a:prstDash val="solid"/>
          </a:ln>
        </p:spPr>
      </p:sp>
      <p:sp>
        <p:nvSpPr>
          <p:cNvPr id="15" name="scale-intl"/>
          <p:cNvSpPr/>
          <p:nvPr/>
        </p:nvSpPr>
        <p:spPr>
          <a:xfrm>
            <a:off x="457200" y="3703320"/>
            <a:ext cx="476451" cy="201168"/>
          </a:xfrm>
          <a:prstGeom prst="rect">
            <a:avLst/>
          </a:prstGeom>
          <a:solidFill>
            <a:srgbClr val="6B8CFF"/>
          </a:solidFill>
          <a:ln w="12700">
            <a:solidFill>
              <a:srgbClr val="6B8CFF"/>
            </a:solidFill>
            <a:prstDash val="solid"/>
          </a:ln>
        </p:spPr>
      </p:sp>
      <p:sp>
        <p:nvSpPr>
          <p:cNvPr id="16" name="scale-1pct"/>
          <p:cNvSpPr/>
          <p:nvPr/>
        </p:nvSpPr>
        <p:spPr>
          <a:xfrm>
            <a:off x="457200" y="3703320"/>
            <a:ext cx="82296" cy="201168"/>
          </a:xfrm>
          <a:prstGeom prst="rect">
            <a:avLst/>
          </a:prstGeom>
          <a:solidFill>
            <a:srgbClr val="5FCB84"/>
          </a:solidFill>
          <a:ln w="12700">
            <a:solidFill>
              <a:srgbClr val="5FCB8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40050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86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scale: all US college students (grey), international students (blue), the one-percent case (green). Every essay-writing student in the English-speaking world faces the same detectors; only the LMS adapters change by country.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0D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6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Trail · trail-hmc.up.railway.app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WHERE IT IS, AND WHAT IS NEXT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2EE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Live, signed, verifiable. </a:t>
            </a:r>
            <a:pPr indent="0" marL="0">
              <a:buNone/>
            </a:pPr>
            <a:r>
              <a:rPr lang="en-US" sz="3000" i="1" dirty="0">
                <a:solidFill>
                  <a:srgbClr val="6B8C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weeks</a:t>
            </a:r>
            <a:pPr indent="0" marL="0">
              <a:buNone/>
            </a:pPr>
            <a:r>
              <a:rPr lang="en-US" sz="3000" dirty="0">
                <a:solidFill>
                  <a:srgbClr val="F2EE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from a blank folder.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37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FC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SHIPPED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719072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2E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Site, app, extension 0.3.0, Google sign-in, free early access, Postgres on Railway</a:t>
            </a:r>
            <a:endParaRPr lang="en-US" sz="1150" dirty="0"/>
          </a:p>
        </p:txBody>
      </p:sp>
      <p:sp>
        <p:nvSpPr>
          <p:cNvPr id="7" name="road-rule-0"/>
          <p:cNvSpPr/>
          <p:nvPr/>
        </p:nvSpPr>
        <p:spPr>
          <a:xfrm>
            <a:off x="457200" y="2066544"/>
            <a:ext cx="8229600" cy="0"/>
          </a:xfrm>
          <a:prstGeom prst="line">
            <a:avLst/>
          </a:prstGeom>
          <a:noFill/>
          <a:ln w="6350">
            <a:solidFill>
              <a:srgbClr val="2B282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1214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FC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SHIPPED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103120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2E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with six real essays, verify page with a "tamper with it" test, homework time log</a:t>
            </a:r>
            <a:endParaRPr lang="en-US" sz="1150" dirty="0"/>
          </a:p>
        </p:txBody>
      </p:sp>
      <p:sp>
        <p:nvSpPr>
          <p:cNvPr id="10" name="road-rule-1"/>
          <p:cNvSpPr/>
          <p:nvPr/>
        </p:nvSpPr>
        <p:spPr>
          <a:xfrm>
            <a:off x="457200" y="2450592"/>
            <a:ext cx="8229600" cy="0"/>
          </a:xfrm>
          <a:prstGeom prst="line">
            <a:avLst/>
          </a:prstGeom>
          <a:noFill/>
          <a:ln w="6350">
            <a:solidFill>
              <a:srgbClr val="2B282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5054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FC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SHIPPED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2487168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2EE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on 320 real human and ChatGPT essays, report published in the repo</a:t>
            </a:r>
            <a:endParaRPr lang="en-US" sz="1150" dirty="0"/>
          </a:p>
        </p:txBody>
      </p:sp>
      <p:sp>
        <p:nvSpPr>
          <p:cNvPr id="13" name="road-rule-2"/>
          <p:cNvSpPr/>
          <p:nvPr/>
        </p:nvSpPr>
        <p:spPr>
          <a:xfrm>
            <a:off x="457200" y="2834640"/>
            <a:ext cx="8229600" cy="0"/>
          </a:xfrm>
          <a:prstGeom prst="line">
            <a:avLst/>
          </a:prstGeom>
          <a:noFill/>
          <a:ln w="6350">
            <a:solidFill>
              <a:srgbClr val="2B282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8895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86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2871216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C3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Chrome Web Store listing, so "Add to Chrome" is one click. Review is the critical path.</a:t>
            </a:r>
            <a:endParaRPr lang="en-US" sz="1150" dirty="0"/>
          </a:p>
        </p:txBody>
      </p:sp>
      <p:sp>
        <p:nvSpPr>
          <p:cNvPr id="16" name="road-rule-3"/>
          <p:cNvSpPr/>
          <p:nvPr/>
        </p:nvSpPr>
        <p:spPr>
          <a:xfrm>
            <a:off x="457200" y="3218688"/>
            <a:ext cx="8229600" cy="0"/>
          </a:xfrm>
          <a:prstGeom prst="line">
            <a:avLst/>
          </a:prstGeom>
          <a:noFill/>
          <a:ln w="6350">
            <a:solidFill>
              <a:srgbClr val="2B282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2735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86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3255264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C3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Canvas connection with the student's own token: course names, due dates, time against deadlines</a:t>
            </a:r>
            <a:endParaRPr lang="en-US" sz="1150" dirty="0"/>
          </a:p>
        </p:txBody>
      </p:sp>
      <p:sp>
        <p:nvSpPr>
          <p:cNvPr id="19" name="road-rule-4"/>
          <p:cNvSpPr/>
          <p:nvPr/>
        </p:nvSpPr>
        <p:spPr>
          <a:xfrm>
            <a:off x="457200" y="3602736"/>
            <a:ext cx="8229600" cy="0"/>
          </a:xfrm>
          <a:prstGeom prst="line">
            <a:avLst/>
          </a:prstGeom>
          <a:noFill/>
          <a:ln w="6350">
            <a:solidFill>
              <a:srgbClr val="2B282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3657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86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3639312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C3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Domain, production sign-in, Gradescope page adapter, first campus pilot at Claremont</a:t>
            </a:r>
            <a:endParaRPr lang="en-US" sz="1150" dirty="0"/>
          </a:p>
        </p:txBody>
      </p:sp>
      <p:sp>
        <p:nvSpPr>
          <p:cNvPr id="22" name="road-rule-5"/>
          <p:cNvSpPr/>
          <p:nvPr/>
        </p:nvSpPr>
        <p:spPr>
          <a:xfrm>
            <a:off x="457200" y="3986784"/>
            <a:ext cx="8229600" cy="0"/>
          </a:xfrm>
          <a:prstGeom prst="line">
            <a:avLst/>
          </a:prstGeom>
          <a:noFill/>
          <a:ln w="6350">
            <a:solidFill>
              <a:srgbClr val="2B282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4041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86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LATER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463040" y="4023360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C3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Firefox and Safari, Word desktop, student-initiated "share my time summary"</a:t>
            </a:r>
            <a:endParaRPr lang="en-US" sz="1150" dirty="0"/>
          </a:p>
        </p:txBody>
      </p:sp>
      <p:sp>
        <p:nvSpPr>
          <p:cNvPr id="25" name="road-rule-6"/>
          <p:cNvSpPr/>
          <p:nvPr/>
        </p:nvSpPr>
        <p:spPr>
          <a:xfrm>
            <a:off x="457200" y="4370832"/>
            <a:ext cx="8229600" cy="0"/>
          </a:xfrm>
          <a:prstGeom prst="line">
            <a:avLst/>
          </a:prstGeom>
          <a:noFill/>
          <a:ln w="6350">
            <a:solidFill>
              <a:srgbClr val="2B2823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0D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6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Trail · trail-hmc.up.railway.app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8CFF"/>
                </a:solidFill>
              </a:rPr>
              <a:t>11  THE ASK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dirty="0">
                <a:solidFill>
                  <a:srgbClr val="F2EE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Proof you wrote it. </a:t>
            </a:r>
            <a:pPr indent="0" marL="0">
              <a:buNone/>
            </a:pPr>
            <a:r>
              <a:rPr lang="en-US" sz="5400" i="1" dirty="0">
                <a:solidFill>
                  <a:srgbClr val="6B8C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Kept by you,</a:t>
            </a:r>
            <a:pPr indent="0" marL="0">
              <a:buNone/>
            </a:pPr>
            <a:r>
              <a:rPr lang="en-US" sz="5400" dirty="0">
                <a:solidFill>
                  <a:srgbClr val="F2EE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not by Google.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06324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C3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place in the cohort. Introductions to writing centres at the Claremont colleges. Students who will record one real essay and tell us what confused them.</a:t>
            </a:r>
            <a:endParaRPr lang="en-US" sz="1600" dirty="0"/>
          </a:p>
        </p:txBody>
      </p:sp>
      <p:sp>
        <p:nvSpPr>
          <p:cNvPr id="6" name="cta"/>
          <p:cNvSpPr/>
          <p:nvPr/>
        </p:nvSpPr>
        <p:spPr>
          <a:xfrm>
            <a:off x="457200" y="416052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F2EEE4"/>
          </a:solidFill>
          <a:ln w="12700">
            <a:solidFill>
              <a:srgbClr val="F2EEE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42611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0D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a real essay replay  →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42793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C3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trail-hmc.up.railway.app/demo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709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86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 for students, not against them.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Trail Pitch Deck</dc:title>
  <dc:subject>PptxGenJS Presentation</dc:subject>
  <dc:creator>Abdullah Ali</dc:creator>
  <cp:lastModifiedBy>Abdullah Ali</cp:lastModifiedBy>
  <cp:revision>1</cp:revision>
  <dcterms:created xsi:type="dcterms:W3CDTF">2026-10-14T02:40:55Z</dcterms:created>
  <dcterms:modified xsi:type="dcterms:W3CDTF">2026-10-14T02:40:55Z</dcterms:modified>
</cp:coreProperties>
</file>