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f0aabc1f-4932-726e-cb5f-a5481a49d540}">
          <p14:sldIdLst>
            <p14:sldId id="256"/>
          </p14:sldIdLst>
        </p14:section>
        <p14:section name="Problem" id="{59ef9cb3-4f66-b43a-fd91-be23ea1161b6}">
          <p14:sldIdLst>
            <p14:sldId id="257"/>
            <p14:sldId id="258"/>
          </p14:sldIdLst>
        </p14:section>
        <p14:section name="Product" id="{21033946-19d2-f7ff-19e9-10826bee7799}">
          <p14:sldIdLst>
            <p14:sldId id="259"/>
          </p14:sldIdLst>
        </p14:section>
        <p14:section name="Tech" id="{0acd639c-4128-37cd-44f4-e5e8b3a62d08}">
          <p14:sldIdLst>
            <p14:sldId id="260"/>
            <p14:sldId id="261"/>
          </p14:sldIdLst>
        </p14:section>
        <p14:section name="Business" id="{4371b785-d358-e2e6-074d-d44a69f1894e}">
          <p14:sldIdLst>
            <p14:sldId id="262"/>
            <p14:sldId id="263"/>
            <p14:sldId id="264"/>
            <p14:sldId id="265"/>
          </p14:sldIdLst>
        </p14:section>
        <p14:section name="Close" id="{745d1665-4849-46a4-ff80-9b2aaebcbec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Abdullah and I am building Trail. Open the live demo if there is time: trail-hmc.up.railway.app/demo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in one line: the burden of proof moved onto the student and nobody built anything for their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 history is a backup feature, not a record. It is Google's, only in Docs, no timing, no paste source, resets on copy, no integrity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replay. Point at the paste with its source. The declaration is drafted from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a laptop: open /verify, click Try it with a sample record, then Now tamper with it. The chain breaks at a named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validation report is in the repo: backtest-out/real-report.md. It opens by saying Trail does not detect AI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retention: a reason to open Trail weekly. The homework time view came from an instructor suggestion.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loops, each built into the product rather than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moat is the refusal. Student-side trust is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to confirm before presenting: NCES fall enrollment for the 19M; Open Doors for international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Store review is the long pole; it has been submitted / will be submitted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the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Title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06324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Subtitle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Trail · trail-hmc.up.railway.app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"/>
          <p:cNvSpPr/>
          <p:nvPr/>
        </p:nvSpPr>
        <p:spPr>
          <a:xfrm>
            <a:off x="457200" y="64008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6751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ℓ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713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See how you write.</a:t>
            </a:r>
            <a:endParaRPr lang="en-US" sz="5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30632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draft. Every session. Every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highlight>
                  <a:srgbClr val="3A2E14"/>
                </a:highlight>
              </a:rPr>
              <a:t>pasted sentence</a:t>
            </a:r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chatgpt.com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, with its source.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student's own record of how an essay was written. Kept on their laptop, signed so nobody can rewrite it, useful every week.</a:t>
            </a:r>
            <a:endParaRPr lang="en-US" sz="1200" dirty="0"/>
          </a:p>
        </p:txBody>
      </p:sp>
      <p:sp>
        <p:nvSpPr>
          <p:cNvPr id="8" name="legend-0"/>
          <p:cNvSpPr/>
          <p:nvPr/>
        </p:nvSpPr>
        <p:spPr>
          <a:xfrm>
            <a:off x="457200" y="4370832"/>
            <a:ext cx="109728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typed, in your hand</a:t>
            </a:r>
            <a:endParaRPr lang="en-US" sz="900" dirty="0"/>
          </a:p>
        </p:txBody>
      </p:sp>
      <p:sp>
        <p:nvSpPr>
          <p:cNvPr id="10" name="legend-1"/>
          <p:cNvSpPr/>
          <p:nvPr/>
        </p:nvSpPr>
        <p:spPr>
          <a:xfrm>
            <a:off x="2651760" y="4370832"/>
            <a:ext cx="109728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pasted, with its source</a:t>
            </a:r>
            <a:endParaRPr lang="en-US" sz="900" dirty="0"/>
          </a:p>
        </p:txBody>
      </p:sp>
      <p:sp>
        <p:nvSpPr>
          <p:cNvPr id="12" name="legend-2"/>
          <p:cNvSpPr/>
          <p:nvPr/>
        </p:nvSpPr>
        <p:spPr>
          <a:xfrm>
            <a:off x="4846320" y="4370832"/>
            <a:ext cx="109728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checkpoint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617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Claremont accelerator · Abdullah Ali · live at trail-hmc.up.railway.app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01 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 professor flags your essay for AI. You wrote it. You have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nothing to show.</a:t>
            </a:r>
            <a:endParaRPr lang="en-US" sz="3000" dirty="0"/>
          </a:p>
        </p:txBody>
      </p:sp>
      <p:sp>
        <p:nvSpPr>
          <p:cNvPr id="4" name="problem-0"/>
          <p:cNvSpPr/>
          <p:nvPr/>
        </p:nvSpPr>
        <p:spPr>
          <a:xfrm>
            <a:off x="45720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WHAT CHANGED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Colleges now run AI detectors on student work. They are wrong often enough that every campus has a story; a 2023 Stanford study found they flagged most essays by non-native English speakers.</a:t>
            </a:r>
            <a:endParaRPr lang="en-US" sz="1150" dirty="0"/>
          </a:p>
        </p:txBody>
      </p:sp>
      <p:sp>
        <p:nvSpPr>
          <p:cNvPr id="7" name="problem-1"/>
          <p:cNvSpPr/>
          <p:nvPr/>
        </p:nvSpPr>
        <p:spPr>
          <a:xfrm>
            <a:off x="324612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WHO PAYS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student. "I wrote it" is not evidence. The burden of proof has quietly moved onto them, with no tool on their side of the table.</a:t>
            </a:r>
            <a:endParaRPr lang="en-US" sz="1150" dirty="0"/>
          </a:p>
        </p:txBody>
      </p:sp>
      <p:sp>
        <p:nvSpPr>
          <p:cNvPr id="10" name="problem-2"/>
          <p:cNvSpPr/>
          <p:nvPr/>
        </p:nvSpPr>
        <p:spPr>
          <a:xfrm>
            <a:off x="603504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WHY NOW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Detectors arrived faster than due process, and AI-use declarations are becoming standard in syllabi. Students need a record of their own work.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02  WHY GOOGLE DOCS HISTORY IS NOT THE ANSWER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Version history is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Google's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record. Trail is the student's.</a:t>
            </a:r>
            <a:endParaRPr lang="en-US" sz="3000" dirty="0"/>
          </a:p>
        </p:txBody>
      </p:sp>
      <p:graphicFrame>
        <p:nvGraphicFramePr>
          <p:cNvPr id="4" name="comp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question a professor asks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version history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this typed or pasted?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tell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paste, with its source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was it written, and how fast?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Snapshots on Google's 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Keystroke timing, sessions over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it work outside Google Docs?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Docs, Notion, Word, Canvas, Moodle, Blackboard, Brightspace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if I copied my draft to a new doc?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 resets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record follows the writing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I hand it over without sharing the doc?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a pack; the text stays yours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anyone prove it was not edited later?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every 10 minutes, verifiable by anyone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03  THE PRODUCT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 Chrome extension that records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how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you write, on your own laptop.</a:t>
            </a:r>
            <a:endParaRPr lang="en-US" sz="3000" dirty="0"/>
          </a:p>
        </p:txBody>
      </p:sp>
      <p:sp>
        <p:nvSpPr>
          <p:cNvPr id="4" name="replay"/>
          <p:cNvSpPr/>
          <p:nvPr/>
        </p:nvSpPr>
        <p:spPr>
          <a:xfrm>
            <a:off x="457200" y="1691640"/>
            <a:ext cx="420624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and silence · Google Docs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 words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03120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Cities are not designed for silence. In the spring of 2020, New York recorded its quietest month since seismographs were installed.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highlight>
                  <a:srgbClr val="3A2E1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Urban noise fell by roughly half in the first weeks of lockdown</a:t>
            </a:r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jstor.org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city noticed what it had stopped hearing: itself.</a:t>
            </a:r>
            <a:endParaRPr lang="en-US" sz="1250" dirty="0"/>
          </a:p>
        </p:txBody>
      </p:sp>
      <p:sp>
        <p:nvSpPr>
          <p:cNvPr id="8" name="bar-typed"/>
          <p:cNvSpPr/>
          <p:nvPr/>
        </p:nvSpPr>
        <p:spPr>
          <a:xfrm>
            <a:off x="658368" y="3977640"/>
            <a:ext cx="2743200" cy="91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r-pasted"/>
          <p:cNvSpPr/>
          <p:nvPr/>
        </p:nvSpPr>
        <p:spPr>
          <a:xfrm>
            <a:off x="3401568" y="3977640"/>
            <a:ext cx="1060704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72%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 28%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916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chemeClr val="tx2"/>
                </a:solidFill>
              </a:rPr>
              <a:t>Replay any essay like a video. Scrub to the paragraph you rewrote four times.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chemeClr val="tx2"/>
                </a:solidFill>
              </a:rPr>
              <a:t>Every paste is kept with the site it came from. jstor.org is a quotation; chatgpt.com is a conversation to have honestly.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chemeClr val="tx2"/>
                </a:solidFill>
              </a:rPr>
              <a:t>The AI-use declaration your course requires is drafted from what actually happened, not from memory.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chemeClr val="tx2"/>
                </a:solidFill>
              </a:rPr>
              <a:t>If you are ever accused, export an evidence pack anyone can verify in a browser without trusting us.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chemeClr val="tx2"/>
                </a:solidFill>
              </a:rPr>
              <a:t>Trail does not detect AI. It records process, and says so on every page.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04  HOW IT WORKS, IN ONE PICTURE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Every event is fingerprinted and chained. Every ten minutes the chain is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signed and published.</a:t>
            </a:r>
            <a:endParaRPr lang="en-US" sz="3000" dirty="0"/>
          </a:p>
        </p:txBody>
      </p:sp>
      <p:sp>
        <p:nvSpPr>
          <p:cNvPr id="4" name="ev-0"/>
          <p:cNvSpPr/>
          <p:nvPr/>
        </p:nvSpPr>
        <p:spPr>
          <a:xfrm>
            <a:off x="457200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#a41f</a:t>
            </a:r>
            <a:endParaRPr lang="en-US" sz="900" dirty="0"/>
          </a:p>
        </p:txBody>
      </p:sp>
      <p:sp>
        <p:nvSpPr>
          <p:cNvPr id="7" name="link-0"/>
          <p:cNvSpPr/>
          <p:nvPr/>
        </p:nvSpPr>
        <p:spPr>
          <a:xfrm>
            <a:off x="1243584" y="2295144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ev-1"/>
          <p:cNvSpPr/>
          <p:nvPr/>
        </p:nvSpPr>
        <p:spPr>
          <a:xfrm>
            <a:off x="1444752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36192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#9c02</a:t>
            </a:r>
            <a:endParaRPr lang="en-US" sz="900" dirty="0"/>
          </a:p>
        </p:txBody>
      </p:sp>
      <p:sp>
        <p:nvSpPr>
          <p:cNvPr id="11" name="link-1"/>
          <p:cNvSpPr/>
          <p:nvPr/>
        </p:nvSpPr>
        <p:spPr>
          <a:xfrm>
            <a:off x="2231136" y="2295144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ev-2"/>
          <p:cNvSpPr/>
          <p:nvPr/>
        </p:nvSpPr>
        <p:spPr>
          <a:xfrm>
            <a:off x="2432304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23744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523744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#77be</a:t>
            </a:r>
            <a:endParaRPr lang="en-US" sz="900" dirty="0"/>
          </a:p>
        </p:txBody>
      </p:sp>
      <p:sp>
        <p:nvSpPr>
          <p:cNvPr id="15" name="link-2"/>
          <p:cNvSpPr/>
          <p:nvPr/>
        </p:nvSpPr>
        <p:spPr>
          <a:xfrm>
            <a:off x="3218688" y="2295144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ev-3"/>
          <p:cNvSpPr/>
          <p:nvPr/>
        </p:nvSpPr>
        <p:spPr>
          <a:xfrm>
            <a:off x="3419856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11296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511296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#e3d0</a:t>
            </a:r>
            <a:endParaRPr lang="en-US" sz="900" dirty="0"/>
          </a:p>
        </p:txBody>
      </p:sp>
      <p:sp>
        <p:nvSpPr>
          <p:cNvPr id="19" name="link-3"/>
          <p:cNvSpPr/>
          <p:nvPr/>
        </p:nvSpPr>
        <p:spPr>
          <a:xfrm>
            <a:off x="4206240" y="2295144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ev-4"/>
          <p:cNvSpPr/>
          <p:nvPr/>
        </p:nvSpPr>
        <p:spPr>
          <a:xfrm>
            <a:off x="4407408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8848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#c01a</a:t>
            </a:r>
            <a:endParaRPr lang="en-US" sz="900" dirty="0"/>
          </a:p>
        </p:txBody>
      </p:sp>
      <p:sp>
        <p:nvSpPr>
          <p:cNvPr id="23" name="link-sign"/>
          <p:cNvSpPr/>
          <p:nvPr/>
        </p:nvSpPr>
        <p:spPr>
          <a:xfrm>
            <a:off x="5266944" y="2295144"/>
            <a:ext cx="3657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ign"/>
          <p:cNvSpPr/>
          <p:nvPr/>
        </p:nvSpPr>
        <p:spPr>
          <a:xfrm>
            <a:off x="5669280" y="1965960"/>
            <a:ext cx="14630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9008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10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779008" y="2286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by Trail's key</a:t>
            </a:r>
            <a:endParaRPr lang="en-US" sz="900" dirty="0"/>
          </a:p>
        </p:txBody>
      </p:sp>
      <p:sp>
        <p:nvSpPr>
          <p:cNvPr id="27" name="link-log"/>
          <p:cNvSpPr/>
          <p:nvPr/>
        </p:nvSpPr>
        <p:spPr>
          <a:xfrm>
            <a:off x="7132320" y="2295144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log"/>
          <p:cNvSpPr/>
          <p:nvPr/>
        </p:nvSpPr>
        <p:spPr>
          <a:xfrm>
            <a:off x="7443216" y="1965960"/>
            <a:ext cx="1243584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52944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log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552944" y="2286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append-only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Each fingerprint includes the previous one, so a change anywhere breaks every link after it.</a:t>
            </a:r>
            <a:endParaRPr lang="en-US" sz="1050" dirty="0"/>
          </a:p>
        </p:txBody>
      </p:sp>
      <p:sp>
        <p:nvSpPr>
          <p:cNvPr id="32" name="step-0"/>
          <p:cNvSpPr/>
          <p:nvPr/>
        </p:nvSpPr>
        <p:spPr>
          <a:xfrm>
            <a:off x="45720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1  ON THE LAPTOP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extension batches keystrokes, pastes and deletions, each with a fingerprint that includes the one before.</a:t>
            </a:r>
            <a:endParaRPr lang="en-US" sz="1050" dirty="0"/>
          </a:p>
        </p:txBody>
      </p:sp>
      <p:sp>
        <p:nvSpPr>
          <p:cNvPr id="35" name="step-1"/>
          <p:cNvSpPr/>
          <p:nvPr/>
        </p:nvSpPr>
        <p:spPr>
          <a:xfrm>
            <a:off x="324612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4728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2  TO THE SERVER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44728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Only the latest 64-character fingerprint, every ten minutes. Never the text, never the title, never the document address.</a:t>
            </a:r>
            <a:endParaRPr lang="en-US" sz="1050" dirty="0"/>
          </a:p>
        </p:txBody>
      </p:sp>
      <p:sp>
        <p:nvSpPr>
          <p:cNvPr id="38" name="step-2"/>
          <p:cNvSpPr/>
          <p:nvPr/>
        </p:nvSpPr>
        <p:spPr>
          <a:xfrm>
            <a:off x="603504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3620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3  IN ANY BROWSER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23620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professor drops the pack on trail-hmc.up.railway.app/verify. It recomputes everything against the key and log fetched from the site. Change one letter and it names the event.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05  IT HAD TO PROVE ITSELF BEFORE IT GOT A WEBSITE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320 real essays. 800 simulated ways of writing them.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Exact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provenance.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LINES RECONSTRUCTED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315,760 words, byte-exact. Line and character provenance 100%.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HONEST WRITERS FLAGGED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320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Not one human-typed document was called scripted.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SCRIPTED ESSAYS CAUGHT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 / 160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auto-typed ChatGPT essay flagged for uniform rhythm.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Human and ChatGPT essays from public datasets (Ghostbuster, HC3), pushed through typed, pasted-whole, pasted-in-chunks, auto-typed and quoted processes with known ground truth. The analysis never reads the text. That is the point: Trail records process, it does not judge content.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06  USEFUL EVERY WEEK, NOT JUST IN A CRISIS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The evidence pack is one item on a menu.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The habit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is the product.</a:t>
            </a:r>
            <a:endParaRPr lang="en-US" sz="3000" dirty="0"/>
          </a:p>
        </p:txBody>
      </p:sp>
      <p:sp>
        <p:nvSpPr>
          <p:cNvPr id="4" name="feat-0"/>
          <p:cNvSpPr/>
          <p:nvPr/>
        </p:nvSpPr>
        <p:spPr>
          <a:xfrm>
            <a:off x="45720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REPLAY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2,000 words happen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essay at forty seconds a session. Most tools keep the final version; Trail keeps the whole thing.</a:t>
            </a:r>
            <a:endParaRPr lang="en-US" sz="1100" dirty="0"/>
          </a:p>
        </p:txBody>
      </p:sp>
      <p:sp>
        <p:nvSpPr>
          <p:cNvPr id="8" name="feat-1"/>
          <p:cNvSpPr/>
          <p:nvPr/>
        </p:nvSpPr>
        <p:spPr>
          <a:xfrm>
            <a:off x="324612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PATTERNS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process, in numbers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Best hour, median session, typed share, how much you rewrite. Nothing is sent anywhere.</a:t>
            </a:r>
            <a:endParaRPr lang="en-US" sz="1100" dirty="0"/>
          </a:p>
        </p:txBody>
      </p:sp>
      <p:sp>
        <p:nvSpPr>
          <p:cNvPr id="12" name="feat-2"/>
          <p:cNvSpPr/>
          <p:nvPr/>
        </p:nvSpPr>
        <p:spPr>
          <a:xfrm>
            <a:off x="603504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TIME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for homework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Active minutes by class and assignment on Canvas and friends, a streak, plain habit lines. No teacher view.</a:t>
            </a:r>
            <a:endParaRPr lang="en-US" sz="1100" dirty="0"/>
          </a:p>
        </p:txBody>
      </p:sp>
      <p:sp>
        <p:nvSpPr>
          <p:cNvPr id="16" name="feat-3"/>
          <p:cNvSpPr/>
          <p:nvPr/>
        </p:nvSpPr>
        <p:spPr>
          <a:xfrm>
            <a:off x="45720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DECLARATION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from what happened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AI-use statement more courses require, drafted from the record. You edit it, you sign it.</a:t>
            </a:r>
            <a:endParaRPr lang="en-US" sz="1100" dirty="0"/>
          </a:p>
        </p:txBody>
      </p:sp>
      <p:sp>
        <p:nvSpPr>
          <p:cNvPr id="20" name="feat-4"/>
          <p:cNvSpPr/>
          <p:nvPr/>
        </p:nvSpPr>
        <p:spPr>
          <a:xfrm>
            <a:off x="324612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728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PACK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anyone ever asks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click. Verifiable by anyone, in a browser, without trusting Trail.</a:t>
            </a:r>
            <a:endParaRPr lang="en-US" sz="1100" dirty="0"/>
          </a:p>
        </p:txBody>
      </p:sp>
      <p:sp>
        <p:nvSpPr>
          <p:cNvPr id="24" name="feat-5"/>
          <p:cNvSpPr/>
          <p:nvPr/>
        </p:nvSpPr>
        <p:spPr>
          <a:xfrm>
            <a:off x="603504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PRIVACY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leaves the laptop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server holds email, fingerprints and signatures. Deleting the account deletes all of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07  CUSTOMERS AND HOW WE GET THEM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Start with the students who are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most afraid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, and let the product carry itself.</a:t>
            </a:r>
            <a:endParaRPr lang="en-US" sz="3000" dirty="0"/>
          </a:p>
        </p:txBody>
      </p:sp>
      <p:sp>
        <p:nvSpPr>
          <p:cNvPr id="4" name="acq-0"/>
          <p:cNvSpPr/>
          <p:nvPr/>
        </p:nvSpPr>
        <p:spPr>
          <a:xfrm>
            <a:off x="45720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WEDGE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students at three campuses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Flagged most, talk to each other most. Claremont is one of the three.</a:t>
            </a:r>
            <a:endParaRPr lang="en-US" sz="1100" dirty="0"/>
          </a:p>
        </p:txBody>
      </p:sp>
      <p:sp>
        <p:nvSpPr>
          <p:cNvPr id="8" name="acq-1"/>
          <p:cNvSpPr/>
          <p:nvPr/>
        </p:nvSpPr>
        <p:spPr>
          <a:xfrm>
            <a:off x="324612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LOOP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 three, get a semester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 invite counts when the friend finishes a first replay, not at sign-up. Nine invites, three free semesters.</a:t>
            </a:r>
            <a:endParaRPr lang="en-US" sz="1100" dirty="0"/>
          </a:p>
        </p:txBody>
      </p:sp>
      <p:sp>
        <p:nvSpPr>
          <p:cNvPr id="12" name="loop-dot-1"/>
          <p:cNvSpPr/>
          <p:nvPr/>
        </p:nvSpPr>
        <p:spPr>
          <a:xfrm>
            <a:off x="5577840" y="18745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cq-2"/>
          <p:cNvSpPr/>
          <p:nvPr/>
        </p:nvSpPr>
        <p:spPr>
          <a:xfrm>
            <a:off x="603504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LOOP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verify page is the ad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Every pack a student hands a professor points to the verify page. The person checking it is the next one recommending it.</a:t>
            </a:r>
            <a:endParaRPr lang="en-US" sz="1100" dirty="0"/>
          </a:p>
        </p:txBody>
      </p:sp>
      <p:sp>
        <p:nvSpPr>
          <p:cNvPr id="17" name="loop-dot-2"/>
          <p:cNvSpPr/>
          <p:nvPr/>
        </p:nvSpPr>
        <p:spPr>
          <a:xfrm>
            <a:off x="8366760" y="18745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acq-3"/>
          <p:cNvSpPr/>
          <p:nvPr/>
        </p:nvSpPr>
        <p:spPr>
          <a:xfrm>
            <a:off x="45720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LOOP 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declaration travels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declaration "generated from my writing record" at the foot of an essay is read by every grader. Writing centres ask where it came from.</a:t>
            </a:r>
            <a:endParaRPr lang="en-US" sz="1100" dirty="0"/>
          </a:p>
        </p:txBody>
      </p:sp>
      <p:sp>
        <p:nvSpPr>
          <p:cNvPr id="22" name="loop-dot-3"/>
          <p:cNvSpPr/>
          <p:nvPr/>
        </p:nvSpPr>
        <p:spPr>
          <a:xfrm>
            <a:off x="2788920" y="33375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acq-4"/>
          <p:cNvSpPr/>
          <p:nvPr/>
        </p:nvSpPr>
        <p:spPr>
          <a:xfrm>
            <a:off x="324612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4728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CHANNEL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Web Store, one click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4728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Five dollars once, no per-install cost. "Add to Chrome" is the funnel; the first replay is the activation.</a:t>
            </a:r>
            <a:endParaRPr lang="en-US" sz="1100" dirty="0"/>
          </a:p>
        </p:txBody>
      </p:sp>
      <p:sp>
        <p:nvSpPr>
          <p:cNvPr id="27" name="acq-5"/>
          <p:cNvSpPr/>
          <p:nvPr/>
        </p:nvSpPr>
        <p:spPr>
          <a:xfrm>
            <a:off x="603504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620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COST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cost near zero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ads. Students sell it to students. Free early access is the entire marketing budget.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08  BUSINESS MODEL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Sold only to students.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Never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to institutions.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SEMESTER PLAN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four months. One coffee a month.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MONTHLY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$3.99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Same features, month to month.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SERVER COST PER USER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2¢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Per month at current scale. The server stores fingerprints, not text. Estimate from our hosting bill.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Free during early access. Fourteen days free with every feature once pricing switches on, no card.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Recording, local storage, export and checkpoint signing never lock, paid or not. Holding the record hostage would make the whole thing pointless.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Refusing institutional contracts is the moat. The moment a university is the customer, Trail becomes surveillance and students stop installing 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Cancel in one click, full refund within fourteen days, renewal reminder seven days before.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09  MARKET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About nineteen million US college students. One in a hundred is a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real company.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US COLLEGE STUDENTS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Roughly 1.1 million of them international, the wedge.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AT 1% ON THE SEMESTER PLAN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190,000 students × $24 a year. Illustrative, not a forecast.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Fingerprints are cheap to store and sign. Support and payments are the real costs.</a:t>
            </a:r>
            <a:endParaRPr lang="en-US" sz="1150" dirty="0"/>
          </a:p>
        </p:txBody>
      </p:sp>
      <p:sp>
        <p:nvSpPr>
          <p:cNvPr id="13" name="scale-all"/>
          <p:cNvSpPr/>
          <p:nvPr/>
        </p:nvSpPr>
        <p:spPr>
          <a:xfrm>
            <a:off x="457200" y="3703320"/>
            <a:ext cx="822960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2B2823"/>
            </a:solidFill>
            <a:prstDash val="solid"/>
          </a:ln>
        </p:spPr>
      </p:sp>
      <p:sp>
        <p:nvSpPr>
          <p:cNvPr id="14" name="scale-intl"/>
          <p:cNvSpPr/>
          <p:nvPr/>
        </p:nvSpPr>
        <p:spPr>
          <a:xfrm>
            <a:off x="457200" y="3703320"/>
            <a:ext cx="476451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cale-1pct"/>
          <p:cNvSpPr/>
          <p:nvPr/>
        </p:nvSpPr>
        <p:spPr>
          <a:xfrm>
            <a:off x="457200" y="3703320"/>
            <a:ext cx="82296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To scale: all US college students (grey), international students (blue), the one-percent case (green). Every essay-writing student in the English-speaking world faces the same detectors; only the LMS adapters change by country.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10  WHERE IT IS, AND WHAT IS NEXT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Live, signed, verifiable. </a:t>
            </a:r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</a:rPr>
              <a:t>Three weeks</a:t>
            </a:r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 from a blank folder.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7190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Site, app, extension 0.3.0, Google sign-in, free early access, Postgres on Railway</a:t>
            </a:r>
            <a:endParaRPr lang="en-US" sz="1150" dirty="0"/>
          </a:p>
        </p:txBody>
      </p:sp>
      <p:sp>
        <p:nvSpPr>
          <p:cNvPr id="6" name="road-rule-0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Live demo with six real essays, verify page with a "tamper with it" test, homework time log</a:t>
            </a:r>
            <a:endParaRPr lang="en-US" sz="1150" dirty="0"/>
          </a:p>
        </p:txBody>
      </p:sp>
      <p:sp>
        <p:nvSpPr>
          <p:cNvPr id="9" name="road-rule-1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871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Validation on 320 real human and ChatGPT essays, report published in the repo</a:t>
            </a:r>
            <a:endParaRPr lang="en-US" sz="1150" dirty="0"/>
          </a:p>
        </p:txBody>
      </p:sp>
      <p:sp>
        <p:nvSpPr>
          <p:cNvPr id="12" name="road-rule-2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8712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Chrome Web Store listing, so "Add to Chrome" is one click. Review is the critical path.</a:t>
            </a:r>
            <a:endParaRPr lang="en-US" sz="1150" dirty="0"/>
          </a:p>
        </p:txBody>
      </p:sp>
      <p:sp>
        <p:nvSpPr>
          <p:cNvPr id="15" name="road-rule-3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552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Canvas connection with the student's own token: course names, due dates, time against deadlines</a:t>
            </a:r>
            <a:endParaRPr lang="en-US" sz="1150" dirty="0"/>
          </a:p>
        </p:txBody>
      </p:sp>
      <p:sp>
        <p:nvSpPr>
          <p:cNvPr id="18" name="road-rule-4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6393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Domain, production sign-in, Gradescope page adapter, first campus pilot at Claremont</a:t>
            </a:r>
            <a:endParaRPr lang="en-US" sz="1150" dirty="0"/>
          </a:p>
        </p:txBody>
      </p:sp>
      <p:sp>
        <p:nvSpPr>
          <p:cNvPr id="21" name="road-rule-5"/>
          <p:cNvSpPr/>
          <p:nvPr/>
        </p:nvSpPr>
        <p:spPr>
          <a:xfrm>
            <a:off x="457200" y="3986784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233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Firefox and Safari, Word desktop, student-initiated "share my time summary"</a:t>
            </a:r>
            <a:endParaRPr lang="en-US" sz="1150" dirty="0"/>
          </a:p>
        </p:txBody>
      </p:sp>
      <p:sp>
        <p:nvSpPr>
          <p:cNvPr id="24" name="road-rule-6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11  THE ASK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Proof you wrote it. </a:t>
            </a:r>
            <a:pPr indent="0" marL="0">
              <a:buNone/>
            </a:pPr>
            <a:r>
              <a:rPr lang="en-US" sz="5400" i="1" dirty="0">
                <a:solidFill>
                  <a:schemeClr val="accent1"/>
                </a:solidFill>
              </a:rPr>
              <a:t>Kept by you,</a:t>
            </a:r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 not by Google.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30632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place in the cohort. Introductions to writing centres at the Claremont colleges. Students who will record one real essay and tell us what confused them.</a:t>
            </a:r>
            <a:endParaRPr lang="en-US" sz="1600" dirty="0"/>
          </a:p>
        </p:txBody>
      </p:sp>
      <p:sp>
        <p:nvSpPr>
          <p:cNvPr id="5" name="cta"/>
          <p:cNvSpPr/>
          <p:nvPr/>
        </p:nvSpPr>
        <p:spPr>
          <a:xfrm>
            <a:off x="457200" y="4160520"/>
            <a:ext cx="265176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Watch a real essay replay 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trail-hmc.up.railway.app/demo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students, not against them.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il Ink">
  <a:themeElements>
    <a:clrScheme name="Trail Ink">
      <a:dk1>
        <a:srgbClr val="F2EEE4"/>
      </a:dk1>
      <a:lt1>
        <a:srgbClr val="0E0D0C"/>
      </a:lt1>
      <a:dk2>
        <a:srgbClr val="C9C3B6"/>
      </a:dk2>
      <a:lt2>
        <a:srgbClr val="161513"/>
      </a:lt2>
      <a:accent1>
        <a:srgbClr val="6B8CFF"/>
      </a:accent1>
      <a:accent2>
        <a:srgbClr val="5FCB84"/>
      </a:accent2>
      <a:accent3>
        <a:srgbClr val="E0A64B"/>
      </a:accent3>
      <a:accent4>
        <a:srgbClr val="E06A5A"/>
      </a:accent4>
      <a:accent5>
        <a:srgbClr val="8B867C"/>
      </a:accent5>
      <a:accent6>
        <a:srgbClr val="2A49C9"/>
      </a:accent6>
      <a:hlink>
        <a:srgbClr val="6B8CFF"/>
      </a:hlink>
      <a:folHlink>
        <a:srgbClr val="6B8CFF"/>
      </a:folHlink>
    </a:clrScheme>
    <a:fontScheme name="Trail In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 Pitch Deck</dc:title>
  <dc:subject>PptxGenJS Presentation</dc:subject>
  <dc:creator>Abdullah Ali</dc:creator>
  <cp:lastModifiedBy>Abdullah Ali</cp:lastModifiedBy>
  <cp:revision>1</cp:revision>
  <dcterms:created xsi:type="dcterms:W3CDTF">2026-10-14T02:33:29Z</dcterms:created>
  <dcterms:modified xsi:type="dcterms:W3CDTF">2026-10-14T02:33:29Z</dcterms:modified>
</cp:coreProperties>
</file>