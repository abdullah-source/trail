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b8ae501b-c9d8-51c2-e918-1372fe9f5cab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to 0:40. Here is a situation happening on every campus. A professor runs an essay through a detector, it flags it, the student wrote every word, and they have nothing to show. "I wrote it" is not evidence. Docs history is Google's record and cannot tell typing from pasting.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 to 1:30. Trail records how you write, on your laptop: keystrokes with timing, every paste and its source, sessions over days. Signed every ten minutes, verifiable by anyone. Every week: replay, patterns, time, declaration. Proof: 320 real essays, 800 processes, zero of 320 honest writers flagged, all 160 scripted ones caught. Trail does not detect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 to 2:00. Live today, free, at trail-hmc.up.railway.app. Sold only to students, never institutions. Twelve dollars a semester, nineteen million students facing the same detectors. The ask: a place in the cohort, writing-centre introductions, students who will record one real essay. Proof you wrote it, kept by you, not by Google.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Eyebrow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Title</a:t>
            </a: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45720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Trail · trail-hmc.up.railway.app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TRAIL  ·  1 / 3  ·  THE PROBLEM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A professor flags your essay for AI. You wrote it. You have </a:t>
            </a:r>
            <a:pPr indent="0" marL="0">
              <a:buNone/>
            </a:pPr>
            <a:r>
              <a:rPr lang="en-US" sz="3200" i="1" dirty="0">
                <a:solidFill>
                  <a:schemeClr val="accent1"/>
                </a:solidFill>
              </a:rPr>
              <a:t>nothing to show.</a:t>
            </a:r>
            <a:endParaRPr lang="en-US" sz="3200" dirty="0"/>
          </a:p>
        </p:txBody>
      </p:sp>
      <p:sp>
        <p:nvSpPr>
          <p:cNvPr id="4" name="p-0"/>
          <p:cNvSpPr/>
          <p:nvPr/>
        </p:nvSpPr>
        <p:spPr>
          <a:xfrm>
            <a:off x="457200" y="1783080"/>
            <a:ext cx="4023360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947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WHAT CHANGED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21992"/>
            <a:ext cx="3621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Colleges run AI detectors on student work. They are wrong often enough that every campus has a story; a 2023 Stanford study found them flagging most essays by non-native English speakers.</a:t>
            </a:r>
            <a:endParaRPr lang="en-US" sz="1150" dirty="0"/>
          </a:p>
        </p:txBody>
      </p:sp>
      <p:sp>
        <p:nvSpPr>
          <p:cNvPr id="7" name="p-1"/>
          <p:cNvSpPr/>
          <p:nvPr/>
        </p:nvSpPr>
        <p:spPr>
          <a:xfrm>
            <a:off x="457200" y="3154680"/>
            <a:ext cx="4023360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WHO PAYS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593592"/>
            <a:ext cx="3621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student. "I wrote it" is not evidence. The burden of proof has landed on them, and nobody has built anything for their side of the table.</a:t>
            </a:r>
            <a:endParaRPr lang="en-US" sz="1150" dirty="0"/>
          </a:p>
        </p:txBody>
      </p:sp>
      <p:sp>
        <p:nvSpPr>
          <p:cNvPr id="10" name="docs"/>
          <p:cNvSpPr/>
          <p:nvPr/>
        </p:nvSpPr>
        <p:spPr>
          <a:xfrm>
            <a:off x="4663440" y="1783080"/>
            <a:ext cx="4023360" cy="2633472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947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WHY GOOGLE DOCS HISTORY IS NOT THE ANSWER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2240280"/>
            <a:ext cx="36210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chemeClr val="tx2"/>
                </a:solidFill>
              </a:rPr>
              <a:t>It is Google's record, not the student's.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chemeClr val="tx2"/>
                </a:solidFill>
              </a:rPr>
              <a:t>It only exists inside Google Docs.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chemeClr val="tx2"/>
                </a:solidFill>
              </a:rPr>
              <a:t>It cannot tell typing from pasting, or where a paste came from.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chemeClr val="tx2"/>
                </a:solidFill>
              </a:rPr>
              <a:t>It resets the moment you copy your draft to a new document.</a:t>
            </a:r>
            <a:endParaRPr lang="en-US" sz="1150" dirty="0"/>
          </a:p>
          <a:p>
            <a:pPr marL="342900" indent="-342900">
              <a:buSzPct val="100000"/>
              <a:buChar char="—"/>
            </a:pPr>
            <a:r>
              <a:rPr lang="en-US" sz="1150" dirty="0">
                <a:solidFill>
                  <a:schemeClr val="tx2"/>
                </a:solidFill>
              </a:rPr>
              <a:t>It cannot prove nothing was edited later.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TRAIL  ·  2 / 3  ·  THE PRODUCT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A Chrome extension that records </a:t>
            </a:r>
            <a:pPr indent="0" marL="0">
              <a:buNone/>
            </a:pPr>
            <a:r>
              <a:rPr lang="en-US" sz="3200" i="1" dirty="0">
                <a:solidFill>
                  <a:schemeClr val="accent1"/>
                </a:solidFill>
              </a:rPr>
              <a:t>how</a:t>
            </a:r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 you write, on your own laptop. Signed, so anyone can verify it.</a:t>
            </a:r>
            <a:endParaRPr lang="en-US" sz="3200" dirty="0"/>
          </a:p>
        </p:txBody>
      </p:sp>
      <p:sp>
        <p:nvSpPr>
          <p:cNvPr id="4" name="replay"/>
          <p:cNvSpPr/>
          <p:nvPr/>
        </p:nvSpPr>
        <p:spPr>
          <a:xfrm>
            <a:off x="457200" y="1783080"/>
            <a:ext cx="40233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920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 and silence · Google Docs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57984"/>
            <a:ext cx="3621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spring of 2020, New York recorded its quietest month since seismographs were installed. 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highlight>
                  <a:srgbClr val="3A2E14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Urban noise fell by roughly half in the first weeks of lockdown</a:t>
            </a:r>
            <a:pPr indent="0" marL="0">
              <a:buNone/>
            </a:pPr>
            <a:r>
              <a:rPr lang="en-US" sz="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jstor.org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the city noticed what it had stopped hearing: itself.</a:t>
            </a:r>
            <a:endParaRPr lang="en-US" sz="1100" dirty="0"/>
          </a:p>
        </p:txBody>
      </p:sp>
      <p:sp>
        <p:nvSpPr>
          <p:cNvPr id="7" name="bar-t"/>
          <p:cNvSpPr/>
          <p:nvPr/>
        </p:nvSpPr>
        <p:spPr>
          <a:xfrm>
            <a:off x="658368" y="3218688"/>
            <a:ext cx="2606040" cy="822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bar-p"/>
          <p:cNvSpPr/>
          <p:nvPr/>
        </p:nvSpPr>
        <p:spPr>
          <a:xfrm>
            <a:off x="3264408" y="3218688"/>
            <a:ext cx="1014984" cy="8229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72%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33756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pasted 28% · 1 paste, with source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78308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chemeClr val="tx2"/>
                </a:solidFill>
              </a:rPr>
              <a:t>Replay the essay like a video. See your patterns and your time on school sites.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chemeClr val="tx2"/>
                </a:solidFill>
              </a:rPr>
              <a:t>Every paste kept with the site it came from. The AI-use declaration your course requires, drafted from what happened.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chemeClr val="tx2"/>
                </a:solidFill>
              </a:rPr>
              <a:t>Every 10 minutes the record is signed and published to a public log. If accused, export a pack any professor can verify in a browser. Change one letter and it fails.</a:t>
            </a:r>
            <a:endParaRPr lang="en-US" sz="1150" dirty="0"/>
          </a:p>
          <a:p>
            <a:pPr marL="342900" indent="-342900">
              <a:buSzPct val="100000"/>
              <a:buChar char="—"/>
            </a:pPr>
            <a:r>
              <a:rPr lang="en-US" sz="1150" dirty="0">
                <a:solidFill>
                  <a:schemeClr val="tx1"/>
                </a:solidFill>
              </a:rPr>
              <a:t>Trail does not detect AI. It records process.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PROOF BEFORE IT GOT A WEBSITE: 320 REAL ESSAYS, 800 SIMULATED WRITING PROCESSES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05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LINES RECONSTRUCTED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611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4,400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919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provenance exact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4005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HONEST WRITERS FLAGGED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42611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320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4919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zero false alarms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4005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SCRIPTED ESSAYS CAUGHT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2611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 / 160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4919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every auto-typed one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1"/>
                </a:solidFill>
              </a:rPr>
              <a:t>TRAIL  ·  3 / 3  ·  THE BUSINESS AND THE ASK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Sold only to students, never to institutions. </a:t>
            </a:r>
            <a:pPr indent="0" marL="0">
              <a:buNone/>
            </a:pPr>
            <a:r>
              <a:rPr lang="en-US" sz="3200" i="1" dirty="0">
                <a:solidFill>
                  <a:schemeClr val="accent1"/>
                </a:solidFill>
              </a:rPr>
              <a:t>Live today, free.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PRICE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391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semester, or $3.99 a month, after free early access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US COLLEGE STUDENTS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0391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~19M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697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1.1M international: the wedge, flagged most, talk most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AT 1% ON THE SEMESTER PLAN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0391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$4.6M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697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year. Illustrative, not a forecast</a:t>
            </a:r>
            <a:endParaRPr lang="en-US" sz="1100" dirty="0"/>
          </a:p>
        </p:txBody>
      </p:sp>
      <p:sp>
        <p:nvSpPr>
          <p:cNvPr id="13" name="r-0"/>
          <p:cNvSpPr/>
          <p:nvPr/>
        </p:nvSpPr>
        <p:spPr>
          <a:xfrm>
            <a:off x="457200" y="333756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WHY STUDENTS SELL IT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712464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Invite three friends who finish a first replay, get a semester free. Every verified pack points a professor at trail.app/verify. The declaration at the foot of an essay is read by every grader.</a:t>
            </a:r>
            <a:endParaRPr lang="en-US" sz="1050" dirty="0"/>
          </a:p>
        </p:txBody>
      </p:sp>
      <p:sp>
        <p:nvSpPr>
          <p:cNvPr id="16" name="r-1"/>
          <p:cNvSpPr/>
          <p:nvPr/>
        </p:nvSpPr>
        <p:spPr>
          <a:xfrm>
            <a:off x="4663440" y="333756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4608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WHY WE REFUSE INSTITUTIONS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3712464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The moment a university is the customer, Trail becomes surveillance and students stop installing it. The refusal is the moat.</a:t>
            </a:r>
            <a:endParaRPr lang="en-US" sz="1050" dirty="0"/>
          </a:p>
        </p:txBody>
      </p:sp>
      <p:sp>
        <p:nvSpPr>
          <p:cNvPr id="19" name="ask"/>
          <p:cNvSpPr/>
          <p:nvPr/>
        </p:nvSpPr>
        <p:spPr>
          <a:xfrm>
            <a:off x="457200" y="4480560"/>
            <a:ext cx="8229600" cy="384048"/>
          </a:xfrm>
          <a:prstGeom prst="roundRect">
            <a:avLst>
              <a:gd name="adj" fmla="val 238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5628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The ask: a place in the cohort, introductions to writing centres at the Claremont colleges, and students who will record one real essay.   trail-hmc.up.railway.app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94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il Ink">
  <a:themeElements>
    <a:clrScheme name="Trail Ink">
      <a:dk1>
        <a:srgbClr val="F2EEE4"/>
      </a:dk1>
      <a:lt1>
        <a:srgbClr val="0E0D0C"/>
      </a:lt1>
      <a:dk2>
        <a:srgbClr val="C9C3B6"/>
      </a:dk2>
      <a:lt2>
        <a:srgbClr val="161513"/>
      </a:lt2>
      <a:accent1>
        <a:srgbClr val="6B8CFF"/>
      </a:accent1>
      <a:accent2>
        <a:srgbClr val="5FCB84"/>
      </a:accent2>
      <a:accent3>
        <a:srgbClr val="E0A64B"/>
      </a:accent3>
      <a:accent4>
        <a:srgbClr val="E06A5A"/>
      </a:accent4>
      <a:accent5>
        <a:srgbClr val="8B867C"/>
      </a:accent5>
      <a:accent6>
        <a:srgbClr val="2A49C9"/>
      </a:accent6>
      <a:hlink>
        <a:srgbClr val="6B8CFF"/>
      </a:hlink>
      <a:folHlink>
        <a:srgbClr val="6B8CFF"/>
      </a:folHlink>
    </a:clrScheme>
    <a:fontScheme name="Trail Ink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 Two-Minute Pitch</dc:title>
  <dc:subject>PptxGenJS Presentation</dc:subject>
  <dc:creator>Abdullah Ali</dc:creator>
  <cp:lastModifiedBy>Abdullah Ali</cp:lastModifiedBy>
  <cp:revision>1</cp:revision>
  <dcterms:created xsi:type="dcterms:W3CDTF">2026-10-14T02:35:04Z</dcterms:created>
  <dcterms:modified xsi:type="dcterms:W3CDTF">2026-10-14T02:35:04Z</dcterms:modified>
</cp:coreProperties>
</file>